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9" r:id="rId4"/>
    <p:sldId id="275" r:id="rId5"/>
    <p:sldId id="277" r:id="rId6"/>
    <p:sldId id="276" r:id="rId7"/>
    <p:sldId id="273" r:id="rId8"/>
    <p:sldId id="272"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DC91AE-CBEA-CE3B-E01D-69565ACF1AF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6012111-1E68-FBCF-A42A-118F09CA9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B73ABA0-B5E2-A307-2CC9-93146F304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8941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FCF74FF-5F2A-5E58-E334-D4C48CA9EB0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ECBB9D1-A6BC-6E9E-EF87-52E01A3E3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341E79B-5EAA-A859-875C-81D079BD44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39069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99D33E5-015B-4010-A326-EE105B0A395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BE45ABD-2F84-DC22-C404-9CE0B914A5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A9EB9BF-0BBE-813C-1B5E-629B58123A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82578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2400" dirty="0">
                <a:solidFill>
                  <a:schemeClr val="tx1"/>
                </a:solidFill>
                <a:latin typeface="Cambria" panose="02040503050406030204" pitchFamily="18" charset="0"/>
                <a:ea typeface="Cambria" panose="02040503050406030204" pitchFamily="18" charset="0"/>
              </a:rPr>
              <a:t>Disaster Preparedness and Response Education System for </a:t>
            </a:r>
            <a:br>
              <a:rPr lang="en-IN" sz="2400" dirty="0">
                <a:solidFill>
                  <a:schemeClr val="tx1"/>
                </a:solidFill>
                <a:latin typeface="Cambria" panose="02040503050406030204" pitchFamily="18" charset="0"/>
                <a:ea typeface="Cambria" panose="02040503050406030204" pitchFamily="18" charset="0"/>
              </a:rPr>
            </a:br>
            <a:r>
              <a:rPr lang="en-IN" sz="2400" dirty="0">
                <a:solidFill>
                  <a:schemeClr val="tx1"/>
                </a:solidFill>
                <a:latin typeface="Cambria" panose="02040503050406030204" pitchFamily="18" charset="0"/>
                <a:ea typeface="Cambria" panose="02040503050406030204" pitchFamily="18" charset="0"/>
              </a:rPr>
              <a:t>Schools and Colleges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CIT_32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Pushpalatha 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8167633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CSE</a:t>
            </a:r>
            <a:r>
              <a:rPr lang="en-IN" sz="1800" b="1" dirty="0">
                <a:solidFill>
                  <a:srgbClr val="17365D"/>
                </a:solidFill>
                <a:latin typeface="Cambria" panose="02040503050406030204" pitchFamily="18" charset="0"/>
                <a:ea typeface="Cambria" panose="02040503050406030204" pitchFamily="18" charset="0"/>
                <a:cs typeface="Verdana"/>
                <a:sym typeface="Verdana"/>
              </a:rPr>
              <a:t>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537364"/>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b="1" dirty="0">
                <a:solidFill>
                  <a:srgbClr val="FF0000"/>
                </a:solidFill>
                <a:latin typeface="Cambria" panose="02040503050406030204" pitchFamily="18" charset="0"/>
                <a:ea typeface="Cambria" panose="02040503050406030204" pitchFamily="18" charset="0"/>
                <a:cs typeface="Verdana"/>
                <a:sym typeface="Verdana"/>
              </a:rPr>
              <a:t>: 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Sharmasth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51E67373-2317-F039-3116-F0D01DB0249A}"/>
              </a:ext>
            </a:extLst>
          </p:cNvPr>
          <p:cNvGraphicFramePr>
            <a:graphicFrameLocks noGrp="1"/>
          </p:cNvGraphicFramePr>
          <p:nvPr>
            <p:extLst>
              <p:ext uri="{D42A27DB-BD31-4B8C-83A1-F6EECF244321}">
                <p14:modId xmlns:p14="http://schemas.microsoft.com/office/powerpoint/2010/main" val="2294954243"/>
              </p:ext>
            </p:extLst>
          </p:nvPr>
        </p:nvGraphicFramePr>
        <p:xfrm>
          <a:off x="635494" y="3262890"/>
          <a:ext cx="5336528" cy="1112520"/>
        </p:xfrm>
        <a:graphic>
          <a:graphicData uri="http://schemas.openxmlformats.org/drawingml/2006/table">
            <a:tbl>
              <a:tblPr firstRow="1" bandRow="1"/>
              <a:tblGrid>
                <a:gridCol w="2697641">
                  <a:extLst>
                    <a:ext uri="{9D8B030D-6E8A-4147-A177-3AD203B41FA5}">
                      <a16:colId xmlns:a16="http://schemas.microsoft.com/office/drawing/2014/main" val="3367395382"/>
                    </a:ext>
                  </a:extLst>
                </a:gridCol>
                <a:gridCol w="2638887">
                  <a:extLst>
                    <a:ext uri="{9D8B030D-6E8A-4147-A177-3AD203B41FA5}">
                      <a16:colId xmlns:a16="http://schemas.microsoft.com/office/drawing/2014/main" val="3675861212"/>
                    </a:ext>
                  </a:extLst>
                </a:gridCol>
              </a:tblGrid>
              <a:tr h="370840">
                <a:tc>
                  <a:txBody>
                    <a:bodyPr/>
                    <a:lstStyle/>
                    <a:p>
                      <a:r>
                        <a:rPr lang="en-IN" dirty="0"/>
                        <a:t>20221CIT0130</a:t>
                      </a:r>
                    </a:p>
                  </a:txBody>
                  <a:tcPr/>
                </a:tc>
                <a:tc>
                  <a:txBody>
                    <a:bodyPr/>
                    <a:lstStyle/>
                    <a:p>
                      <a:r>
                        <a:rPr lang="en-IN" dirty="0"/>
                        <a:t>Nithya H D</a:t>
                      </a:r>
                    </a:p>
                  </a:txBody>
                  <a:tcPr/>
                </a:tc>
                <a:extLst>
                  <a:ext uri="{0D108BD9-81ED-4DB2-BD59-A6C34878D82A}">
                    <a16:rowId xmlns:a16="http://schemas.microsoft.com/office/drawing/2014/main" val="379549341"/>
                  </a:ext>
                </a:extLst>
              </a:tr>
              <a:tr h="370840">
                <a:tc>
                  <a:txBody>
                    <a:bodyPr/>
                    <a:lstStyle/>
                    <a:p>
                      <a:r>
                        <a:rPr lang="en-IN" dirty="0"/>
                        <a:t>20221CIT0126</a:t>
                      </a:r>
                    </a:p>
                  </a:txBody>
                  <a:tcPr/>
                </a:tc>
                <a:tc>
                  <a:txBody>
                    <a:bodyPr/>
                    <a:lstStyle/>
                    <a:p>
                      <a:r>
                        <a:rPr lang="en-IN" dirty="0"/>
                        <a:t>Shreya A J</a:t>
                      </a:r>
                    </a:p>
                  </a:txBody>
                  <a:tcPr/>
                </a:tc>
                <a:extLst>
                  <a:ext uri="{0D108BD9-81ED-4DB2-BD59-A6C34878D82A}">
                    <a16:rowId xmlns:a16="http://schemas.microsoft.com/office/drawing/2014/main" val="446000065"/>
                  </a:ext>
                </a:extLst>
              </a:tr>
              <a:tr h="370840">
                <a:tc>
                  <a:txBody>
                    <a:bodyPr/>
                    <a:lstStyle/>
                    <a:p>
                      <a:r>
                        <a:rPr lang="en-IN" dirty="0"/>
                        <a:t>20221CIT0123</a:t>
                      </a:r>
                    </a:p>
                  </a:txBody>
                  <a:tcPr/>
                </a:tc>
                <a:tc>
                  <a:txBody>
                    <a:bodyPr/>
                    <a:lstStyle/>
                    <a:p>
                      <a:r>
                        <a:rPr lang="en-IN" dirty="0"/>
                        <a:t>Manisha S M</a:t>
                      </a:r>
                    </a:p>
                  </a:txBody>
                  <a:tcPr/>
                </a:tc>
                <a:extLst>
                  <a:ext uri="{0D108BD9-81ED-4DB2-BD59-A6C34878D82A}">
                    <a16:rowId xmlns:a16="http://schemas.microsoft.com/office/drawing/2014/main" val="119064059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45391" y="1061028"/>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Number:SIH25008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52499"/>
            <a:ext cx="10668000" cy="5271319"/>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Cambria" panose="02040503050406030204" pitchFamily="18" charset="0"/>
                <a:ea typeface="Cambria" panose="02040503050406030204" pitchFamily="18" charset="0"/>
              </a:rPr>
              <a:t>Organization: </a:t>
            </a:r>
            <a:r>
              <a:rPr lang="en-US" sz="1800" dirty="0">
                <a:latin typeface="Cambria" panose="02040503050406030204" pitchFamily="18" charset="0"/>
                <a:ea typeface="Cambria" panose="02040503050406030204" pitchFamily="18" charset="0"/>
              </a:rPr>
              <a:t>Presidency University</a:t>
            </a:r>
          </a:p>
          <a:p>
            <a:pPr marL="342900" lvl="0" indent="-190500" algn="just">
              <a:lnSpc>
                <a:spcPct val="200000"/>
              </a:lnSpc>
              <a:spcBef>
                <a:spcPts val="0"/>
              </a:spcBef>
              <a:buNone/>
            </a:pPr>
            <a:r>
              <a:rPr lang="en-US" sz="1800" b="1" dirty="0">
                <a:latin typeface="Cambria" panose="02040503050406030204" pitchFamily="18" charset="0"/>
                <a:ea typeface="Cambria" panose="02040503050406030204" pitchFamily="18" charset="0"/>
              </a:rPr>
              <a:t>Category (Hardware / Software / Both) :</a:t>
            </a:r>
            <a:r>
              <a:rPr lang="en-US" sz="1800" dirty="0">
                <a:latin typeface="Cambria" panose="02040503050406030204" pitchFamily="18" charset="0"/>
                <a:ea typeface="Cambria" panose="02040503050406030204" pitchFamily="18" charset="0"/>
              </a:rPr>
              <a:t>Software</a:t>
            </a:r>
          </a:p>
          <a:p>
            <a:pPr marL="342900" lvl="0" indent="-190500">
              <a:lnSpc>
                <a:spcPct val="200000"/>
              </a:lnSpc>
              <a:spcBef>
                <a:spcPts val="0"/>
              </a:spcBef>
              <a:buNone/>
            </a:pPr>
            <a:r>
              <a:rPr lang="en-US" sz="1800" b="1" dirty="0">
                <a:latin typeface="Cambria" panose="02040503050406030204" pitchFamily="18" charset="0"/>
                <a:ea typeface="Cambria" panose="02040503050406030204" pitchFamily="18" charset="0"/>
              </a:rPr>
              <a:t>Problem Description:</a:t>
            </a:r>
            <a:br>
              <a:rPr lang="en-US" sz="1800" b="1"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In India, schools and colleges are often unprepared for natural disasters such as earthquakes, floods, and fires. While emergency guidelines exist on paper, there is a lack of structured disaster management education integrated into the curriculum. Institutions lack digital tools to simulate disaster scenarios or conduct virtual drills to train students and staff on safety protocols.</a:t>
            </a:r>
            <a:br>
              <a:rPr lang="en-US" sz="1800" dirty="0">
                <a:latin typeface="Cambria" panose="02040503050406030204" pitchFamily="18" charset="0"/>
                <a:ea typeface="Cambria" panose="02040503050406030204" pitchFamily="18" charset="0"/>
                <a:cs typeface="Times New Roman" panose="020206030504050203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Furthermore, there’s a gap in localized awareness—many students are unaware of how to react during disasters specific to their region. Manual drills, where they occur, are infrequent and often poorly coordinated, failing to instill practical preparedness.</a:t>
            </a:r>
            <a:br>
              <a:rPr lang="en-US" sz="1800" dirty="0">
                <a:latin typeface="Cambria" panose="02040503050406030204" pitchFamily="18" charset="0"/>
                <a:ea typeface="Cambria" panose="02040503050406030204" pitchFamily="18" charset="0"/>
                <a:cs typeface="Times New Roman" panose="02020603050405020304" pitchFamily="18" charset="0"/>
              </a:rPr>
            </a:br>
            <a:endParaRPr lang="en-US" sz="18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077329F-0DD8-FD18-0380-5DC16773CAD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E8E8A0F-1865-A26F-1A36-0037BD0FAE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55104F7B-E917-752E-E5EC-34E18D3B2508}"/>
              </a:ext>
            </a:extLst>
          </p:cNvPr>
          <p:cNvSpPr txBox="1">
            <a:spLocks noGrp="1"/>
          </p:cNvSpPr>
          <p:nvPr>
            <p:ph type="body" idx="1"/>
          </p:nvPr>
        </p:nvSpPr>
        <p:spPr>
          <a:xfrm>
            <a:off x="655782" y="953729"/>
            <a:ext cx="10668000" cy="4075471"/>
          </a:xfrm>
          <a:prstGeom prst="rect">
            <a:avLst/>
          </a:prstGeom>
          <a:noFill/>
          <a:ln>
            <a:noFill/>
          </a:ln>
        </p:spPr>
        <p:txBody>
          <a:bodyPr spcFirstLastPara="1" wrap="square" lIns="91425" tIns="45700" rIns="91425" bIns="45700" anchor="t" anchorCtr="0">
            <a:noAutofit/>
          </a:bodyPr>
          <a:lstStyle/>
          <a:p>
            <a:pPr marL="495300" indent="-342900" algn="just">
              <a:lnSpc>
                <a:spcPct val="110000"/>
              </a:lnSpc>
              <a:spcBef>
                <a:spcPts val="0"/>
              </a:spcBef>
            </a:pPr>
            <a:r>
              <a:rPr lang="en-US" sz="2000" dirty="0">
                <a:latin typeface="Cambria" panose="02040503050406030204" pitchFamily="18" charset="0"/>
                <a:ea typeface="Cambria" panose="02040503050406030204" pitchFamily="18" charset="0"/>
              </a:rPr>
              <a:t>To design and develop a digital disaster preparedness and response education system that equips students and staff in schools and colleges with structured, practical knowledge to effectively respond to natural disasters.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provide region-specific disaster awareness</a:t>
            </a:r>
            <a:r>
              <a:rPr lang="en-US" sz="2000" dirty="0">
                <a:latin typeface="Cambria" panose="02040503050406030204" pitchFamily="18" charset="0"/>
                <a:ea typeface="Cambria" panose="02040503050406030204" pitchFamily="18" charset="0"/>
              </a:rPr>
              <a:t> by educating users about disasters commonly occurring in their geographical area (such as floods, earthquakes, cyclones, or fires).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simulate real-life disaster scenarios through virtual drills and interactive modules</a:t>
            </a:r>
            <a:r>
              <a:rPr lang="en-US" sz="2000" dirty="0">
                <a:latin typeface="Cambria" panose="02040503050406030204" pitchFamily="18" charset="0"/>
                <a:ea typeface="Cambria" panose="02040503050406030204" pitchFamily="18" charset="0"/>
              </a:rPr>
              <a:t>, enabling students to practice safety protocols in a risk-free environment.</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improve preparedness and response skills of students and staff</a:t>
            </a:r>
            <a:r>
              <a:rPr lang="en-US" sz="2000" dirty="0">
                <a:latin typeface="Cambria" panose="02040503050406030204" pitchFamily="18" charset="0"/>
                <a:ea typeface="Cambria" panose="02040503050406030204" pitchFamily="18" charset="0"/>
              </a:rPr>
              <a:t> by training them on evacuation procedures, first aid, emergency communication, and safety measures.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overcome limitations of manual disaster drills</a:t>
            </a:r>
            <a:r>
              <a:rPr lang="en-US" sz="2000" dirty="0">
                <a:latin typeface="Cambria" panose="02040503050406030204" pitchFamily="18" charset="0"/>
                <a:ea typeface="Cambria" panose="02040503050406030204" pitchFamily="18" charset="0"/>
              </a:rPr>
              <a:t> by offering frequent, scalable, and well-coordinated digital training sessions.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promote a culture of safety and resilience within educational institutions</a:t>
            </a:r>
            <a:r>
              <a:rPr lang="en-US" sz="2000" dirty="0">
                <a:latin typeface="Cambria" panose="02040503050406030204" pitchFamily="18" charset="0"/>
                <a:ea typeface="Cambria" panose="02040503050406030204" pitchFamily="18" charset="0"/>
              </a:rPr>
              <a:t> by encouraging continuous learning and awareness in disaster risk reduction.</a:t>
            </a:r>
          </a:p>
        </p:txBody>
      </p:sp>
    </p:spTree>
    <p:extLst>
      <p:ext uri="{BB962C8B-B14F-4D97-AF65-F5344CB8AC3E}">
        <p14:creationId xmlns:p14="http://schemas.microsoft.com/office/powerpoint/2010/main" val="2892618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6333173-9F11-DC4B-BFCB-436B217A09F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20A99D8-C187-B693-557D-9EC915073848}"/>
              </a:ext>
            </a:extLst>
          </p:cNvPr>
          <p:cNvSpPr txBox="1">
            <a:spLocks noGrp="1"/>
          </p:cNvSpPr>
          <p:nvPr>
            <p:ph type="title"/>
          </p:nvPr>
        </p:nvSpPr>
        <p:spPr>
          <a:xfrm>
            <a:off x="812800" y="553760"/>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8049951-2A0E-D568-A464-AA8D137B00E7}"/>
              </a:ext>
            </a:extLst>
          </p:cNvPr>
          <p:cNvSpPr>
            <a:spLocks noGrp="1" noChangeArrowheads="1"/>
          </p:cNvSpPr>
          <p:nvPr>
            <p:ph type="body" idx="1"/>
          </p:nvPr>
        </p:nvSpPr>
        <p:spPr bwMode="auto">
          <a:xfrm>
            <a:off x="812800" y="1074509"/>
            <a:ext cx="1052368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India frequently faces natural disasters such as floods, earthquakes, and fires, making disaster preparedness essential in educational institutions.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Schools and colleges currently rely on </a:t>
            </a:r>
            <a:r>
              <a:rPr lang="en-US" sz="2000" b="1" dirty="0">
                <a:latin typeface="Cambria" panose="02040503050406030204" pitchFamily="18" charset="0"/>
                <a:ea typeface="Cambria" panose="02040503050406030204" pitchFamily="18" charset="0"/>
              </a:rPr>
              <a:t>theoretical guidelines</a:t>
            </a:r>
            <a:r>
              <a:rPr lang="en-US" sz="2000" dirty="0">
                <a:latin typeface="Cambria" panose="02040503050406030204" pitchFamily="18" charset="0"/>
                <a:ea typeface="Cambria" panose="02040503050406030204" pitchFamily="18" charset="0"/>
              </a:rPr>
              <a:t> with minimal practical training.</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Existing research mainly focuses on </a:t>
            </a:r>
            <a:r>
              <a:rPr lang="en-US" sz="2000" b="1" dirty="0">
                <a:latin typeface="Cambria" panose="02040503050406030204" pitchFamily="18" charset="0"/>
                <a:ea typeface="Cambria" panose="02040503050406030204" pitchFamily="18" charset="0"/>
              </a:rPr>
              <a:t>general disaster management systems</a:t>
            </a:r>
            <a:r>
              <a:rPr lang="en-US" sz="2000" dirty="0">
                <a:latin typeface="Cambria" panose="02040503050406030204" pitchFamily="18" charset="0"/>
                <a:ea typeface="Cambria" panose="02040503050406030204" pitchFamily="18" charset="0"/>
              </a:rPr>
              <a:t> rather than student-centered education.</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Few studies address </a:t>
            </a:r>
            <a:r>
              <a:rPr lang="en-US" sz="2000" b="1" dirty="0">
                <a:latin typeface="Cambria" panose="02040503050406030204" pitchFamily="18" charset="0"/>
                <a:ea typeface="Cambria" panose="02040503050406030204" pitchFamily="18" charset="0"/>
              </a:rPr>
              <a:t>digital learning platforms or virtual simulations</a:t>
            </a:r>
            <a:r>
              <a:rPr lang="en-US" sz="2000" dirty="0">
                <a:latin typeface="Cambria" panose="02040503050406030204" pitchFamily="18" charset="0"/>
                <a:ea typeface="Cambria" panose="02040503050406030204" pitchFamily="18" charset="0"/>
              </a:rPr>
              <a:t> for disaster preparedness in schools and colleges.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Hence, this project is proposed to provide practical, digital, and structured disaster education for students.</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7369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735F89C-E2BA-54D8-CDD5-5CBA4E5A076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8311C06-0E13-B644-05F7-D0C77E61E4E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a:extLst>
              <a:ext uri="{FF2B5EF4-FFF2-40B4-BE49-F238E27FC236}">
                <a16:creationId xmlns:a16="http://schemas.microsoft.com/office/drawing/2014/main" id="{B74A1F8D-3876-0777-9BD7-871D65F2E1CC}"/>
              </a:ext>
            </a:extLst>
          </p:cNvPr>
          <p:cNvSpPr txBox="1">
            <a:spLocks noGrp="1"/>
          </p:cNvSpPr>
          <p:nvPr>
            <p:ph type="body" idx="1"/>
          </p:nvPr>
        </p:nvSpPr>
        <p:spPr>
          <a:xfrm>
            <a:off x="812800" y="1194955"/>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0CF3C343-7741-475C-BCF2-FF989935B679}"/>
              </a:ext>
            </a:extLst>
          </p:cNvPr>
          <p:cNvSpPr>
            <a:spLocks noChangeArrowheads="1"/>
          </p:cNvSpPr>
          <p:nvPr/>
        </p:nvSpPr>
        <p:spPr bwMode="auto">
          <a:xfrm>
            <a:off x="958850" y="1593963"/>
            <a:ext cx="102743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Frontend: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HTML, CSS, JavaScript – for building a responsive and 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Backend: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Java / Python (Flask/Django) / Node.js – for handling application logic and user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Database: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MySQL / MongoDB – to store user data, training records, and assessment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Simulation &amp; Learning Modules: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Interactive web-based simulations and quizzes for disaster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Deployment Platform:</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Cloud-based hosting (AWS / Azure / Local Server) for scalability and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Tools &amp; APIs: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Maps API, Notification services, and Analytics tools for location-based awareness and performance tracking</a:t>
            </a:r>
          </a:p>
        </p:txBody>
      </p:sp>
    </p:spTree>
    <p:extLst>
      <p:ext uri="{BB962C8B-B14F-4D97-AF65-F5344CB8AC3E}">
        <p14:creationId xmlns:p14="http://schemas.microsoft.com/office/powerpoint/2010/main" val="1100272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System Architecture</a:t>
            </a:r>
          </a:p>
        </p:txBody>
      </p:sp>
      <p:sp>
        <p:nvSpPr>
          <p:cNvPr id="3" name="Text Placeholder 2">
            <a:extLst>
              <a:ext uri="{FF2B5EF4-FFF2-40B4-BE49-F238E27FC236}">
                <a16:creationId xmlns:a16="http://schemas.microsoft.com/office/drawing/2014/main" id="{5911A5DD-6D66-AFFE-89C6-DCAE2C827937}"/>
              </a:ext>
            </a:extLst>
          </p:cNvPr>
          <p:cNvSpPr>
            <a:spLocks noGrp="1" noChangeArrowheads="1"/>
          </p:cNvSpPr>
          <p:nvPr>
            <p:ph type="body" idx="1"/>
          </p:nvPr>
        </p:nvSpPr>
        <p:spPr bwMode="auto">
          <a:xfrm>
            <a:off x="812800" y="3128918"/>
            <a:ext cx="10752282"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690792B0-E029-5E26-9F87-5BF9D3A8B782}"/>
              </a:ext>
            </a:extLst>
          </p:cNvPr>
          <p:cNvPicPr>
            <a:picLocks noChangeAspect="1"/>
          </p:cNvPicPr>
          <p:nvPr/>
        </p:nvPicPr>
        <p:blipFill>
          <a:blip r:embed="rId3"/>
          <a:stretch>
            <a:fillRect/>
          </a:stretch>
        </p:blipFill>
        <p:spPr>
          <a:xfrm>
            <a:off x="606417" y="1068636"/>
            <a:ext cx="11093495" cy="4869457"/>
          </a:xfrm>
          <a:prstGeom prst="rect">
            <a:avLst/>
          </a:prstGeom>
        </p:spPr>
      </p:pic>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762138"/>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2200" b="1" dirty="0">
                <a:latin typeface="Cambria" panose="02040503050406030204" pitchFamily="18" charset="0"/>
                <a:ea typeface="Cambria" panose="02040503050406030204" pitchFamily="18" charset="0"/>
              </a:rPr>
              <a:t>Software Requirements:</a:t>
            </a:r>
            <a:endParaRPr lang="en-IN" sz="2200" b="1"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Operating System: Windows / Linux / macOS</a:t>
            </a:r>
          </a:p>
          <a:p>
            <a:r>
              <a:rPr lang="en-IN" sz="2000" dirty="0">
                <a:latin typeface="Cambria" panose="02040503050406030204" pitchFamily="18" charset="0"/>
                <a:ea typeface="Cambria" panose="02040503050406030204" pitchFamily="18" charset="0"/>
              </a:rPr>
              <a:t>Frontend Technologies: HTML, CSS, JavaScript</a:t>
            </a:r>
          </a:p>
          <a:p>
            <a:r>
              <a:rPr lang="en-IN" sz="2000" dirty="0">
                <a:latin typeface="Cambria" panose="02040503050406030204" pitchFamily="18" charset="0"/>
                <a:ea typeface="Cambria" panose="02040503050406030204" pitchFamily="18" charset="0"/>
              </a:rPr>
              <a:t>Backend Technologies: Java / Python / Node.js</a:t>
            </a:r>
          </a:p>
          <a:p>
            <a:r>
              <a:rPr lang="en-IN" sz="2000" dirty="0">
                <a:latin typeface="Cambria" panose="02040503050406030204" pitchFamily="18" charset="0"/>
                <a:ea typeface="Cambria" panose="02040503050406030204" pitchFamily="18" charset="0"/>
              </a:rPr>
              <a:t>Database: MySQL / MongoDB</a:t>
            </a:r>
          </a:p>
          <a:p>
            <a:r>
              <a:rPr lang="en-IN" sz="2000" dirty="0">
                <a:latin typeface="Cambria" panose="02040503050406030204" pitchFamily="18" charset="0"/>
                <a:ea typeface="Cambria" panose="02040503050406030204" pitchFamily="18" charset="0"/>
              </a:rPr>
              <a:t>Web Browser: Google Chrome / Mozilla Firefox</a:t>
            </a:r>
          </a:p>
          <a:p>
            <a:r>
              <a:rPr lang="en-IN" sz="2000" dirty="0">
                <a:latin typeface="Cambria" panose="02040503050406030204" pitchFamily="18" charset="0"/>
                <a:ea typeface="Cambria" panose="02040503050406030204" pitchFamily="18" charset="0"/>
              </a:rPr>
              <a:t>Development Tools: VS Code / IntelliJ / Eclipse</a:t>
            </a:r>
          </a:p>
          <a:p>
            <a:pPr marL="76200" indent="0">
              <a:buNone/>
            </a:pPr>
            <a:r>
              <a:rPr lang="en-US" sz="2200" b="1" dirty="0">
                <a:latin typeface="Cambria" panose="02040503050406030204" pitchFamily="18" charset="0"/>
                <a:ea typeface="Cambria" panose="02040503050406030204" pitchFamily="18" charset="0"/>
              </a:rPr>
              <a:t>Hardware Requirements:</a:t>
            </a:r>
          </a:p>
          <a:p>
            <a:r>
              <a:rPr lang="en-US" sz="2000" dirty="0">
                <a:latin typeface="Cambria" panose="02040503050406030204" pitchFamily="18" charset="0"/>
                <a:ea typeface="Cambria" panose="02040503050406030204" pitchFamily="18" charset="0"/>
              </a:rPr>
              <a:t>Processor: Intel i3 or higher</a:t>
            </a:r>
          </a:p>
          <a:p>
            <a:r>
              <a:rPr lang="en-US" sz="2000" dirty="0">
                <a:latin typeface="Cambria" panose="02040503050406030204" pitchFamily="18" charset="0"/>
                <a:ea typeface="Cambria" panose="02040503050406030204" pitchFamily="18" charset="0"/>
              </a:rPr>
              <a:t>RAM: Minimum 4 GB (8 GB recommended)</a:t>
            </a:r>
          </a:p>
          <a:p>
            <a:r>
              <a:rPr lang="en-US" sz="2000" dirty="0">
                <a:latin typeface="Cambria" panose="02040503050406030204" pitchFamily="18" charset="0"/>
                <a:ea typeface="Cambria" panose="02040503050406030204" pitchFamily="18" charset="0"/>
              </a:rPr>
              <a:t>Storage: Minimum 100 GB free space</a:t>
            </a:r>
          </a:p>
          <a:p>
            <a:r>
              <a:rPr lang="en-US" sz="2000" dirty="0">
                <a:latin typeface="Cambria" panose="02040503050406030204" pitchFamily="18" charset="0"/>
                <a:ea typeface="Cambria" panose="02040503050406030204" pitchFamily="18" charset="0"/>
              </a:rPr>
              <a:t>Internet Connection: Required for online access and updates</a:t>
            </a:r>
          </a:p>
          <a:p>
            <a:pPr marL="76200" indent="0">
              <a:buNone/>
            </a:pPr>
            <a:endParaRPr lang="en-IN"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https://github.com/nithyahd/safelearn</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627ADCA6-FCE2-03FD-978D-5099807D9C5B}"/>
              </a:ext>
            </a:extLst>
          </p:cNvPr>
          <p:cNvPicPr>
            <a:picLocks noChangeAspect="1"/>
          </p:cNvPicPr>
          <p:nvPr/>
        </p:nvPicPr>
        <p:blipFill>
          <a:blip r:embed="rId3"/>
          <a:stretch>
            <a:fillRect/>
          </a:stretch>
        </p:blipFill>
        <p:spPr>
          <a:xfrm>
            <a:off x="952500" y="976745"/>
            <a:ext cx="10287000" cy="510193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30909" y="862446"/>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b="1" dirty="0">
                <a:latin typeface="Cambria" panose="02040503050406030204" pitchFamily="18" charset="0"/>
                <a:ea typeface="Cambria" panose="02040503050406030204" pitchFamily="18" charset="0"/>
              </a:rPr>
              <a:t>[1]</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S. Shaw, R. Takeuchi, and S. K. Jain,</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Disaster education and preparedness: A systematic review of school-based disaster risk reduction programs</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dirty="0">
                <a:latin typeface="Cambria" panose="02040503050406030204" pitchFamily="18" charset="0"/>
                <a:ea typeface="Cambria" panose="02040503050406030204" pitchFamily="18" charset="0"/>
              </a:rPr>
              <a:t>[2] A. R. Mishra and P. K. Singh,</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A digital framework for disaster preparedness and emergency response training using simulation-based learning</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sz="22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TotalTime>
  <Words>818</Words>
  <Application>Microsoft Office PowerPoint</Application>
  <PresentationFormat>Widescreen</PresentationFormat>
  <Paragraphs>97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Disaster Preparedness and Response Education System for  Schools and Colleges</vt:lpstr>
      <vt:lpstr>Content</vt:lpstr>
      <vt:lpstr>Problem Statement Number:SIH25008 </vt:lpstr>
      <vt:lpstr>Objectives</vt:lpstr>
      <vt:lpstr>Background and Related work for title Selection </vt:lpstr>
      <vt:lpstr>Analysis of Problem Statement</vt:lpstr>
      <vt:lpstr>System Architecture</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nithyahd2004@gmail.com</cp:lastModifiedBy>
  <cp:revision>46</cp:revision>
  <dcterms:modified xsi:type="dcterms:W3CDTF">2026-04-23T15:42:39Z</dcterms:modified>
</cp:coreProperties>
</file>