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27"/>
  </p:notesMasterIdLst>
  <p:sldIdLst>
    <p:sldId id="256" r:id="rId5"/>
    <p:sldId id="257" r:id="rId6"/>
    <p:sldId id="278" r:id="rId7"/>
    <p:sldId id="280" r:id="rId8"/>
    <p:sldId id="279" r:id="rId9"/>
    <p:sldId id="294" r:id="rId10"/>
    <p:sldId id="291" r:id="rId11"/>
    <p:sldId id="293" r:id="rId12"/>
    <p:sldId id="292" r:id="rId13"/>
    <p:sldId id="295" r:id="rId14"/>
    <p:sldId id="298" r:id="rId15"/>
    <p:sldId id="296" r:id="rId16"/>
    <p:sldId id="284" r:id="rId17"/>
    <p:sldId id="297" r:id="rId18"/>
    <p:sldId id="290" r:id="rId19"/>
    <p:sldId id="282" r:id="rId20"/>
    <p:sldId id="283" r:id="rId21"/>
    <p:sldId id="268" r:id="rId22"/>
    <p:sldId id="286" r:id="rId23"/>
    <p:sldId id="288" r:id="rId24"/>
    <p:sldId id="287" r:id="rId25"/>
    <p:sldId id="266"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64" autoAdjust="0"/>
  </p:normalViewPr>
  <p:slideViewPr>
    <p:cSldViewPr snapToGrid="0">
      <p:cViewPr>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259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18799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nithyahd/safelear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sdgs.un.org/goal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US" sz="2400" dirty="0">
                <a:solidFill>
                  <a:schemeClr val="tx1"/>
                </a:solidFill>
                <a:latin typeface="Cambria" panose="02040503050406030204" pitchFamily="18" charset="0"/>
                <a:ea typeface="Cambria" panose="02040503050406030204" pitchFamily="18" charset="0"/>
              </a:rPr>
              <a:t>Disaster Preparedness and Response Education System for </a:t>
            </a:r>
            <a:br>
              <a:rPr lang="en-US" sz="2400" dirty="0">
                <a:solidFill>
                  <a:schemeClr val="tx1"/>
                </a:solidFill>
                <a:latin typeface="Cambria" panose="02040503050406030204" pitchFamily="18" charset="0"/>
                <a:ea typeface="Cambria" panose="02040503050406030204" pitchFamily="18" charset="0"/>
              </a:rPr>
            </a:br>
            <a:r>
              <a:rPr lang="en-US" sz="2400" dirty="0">
                <a:solidFill>
                  <a:schemeClr val="tx1"/>
                </a:solidFill>
                <a:latin typeface="Cambria" panose="02040503050406030204" pitchFamily="18" charset="0"/>
                <a:ea typeface="Cambria" panose="02040503050406030204" pitchFamily="18" charset="0"/>
              </a:rPr>
              <a:t>Schools and Colleges</a:t>
            </a:r>
            <a:br>
              <a:rPr lang="en-US" sz="2400" dirty="0">
                <a:solidFill>
                  <a:schemeClr val="tx1"/>
                </a:solidFill>
                <a:latin typeface="Cambria" panose="02040503050406030204" pitchFamily="18" charset="0"/>
                <a:ea typeface="Cambria" panose="02040503050406030204" pitchFamily="18" charset="0"/>
              </a:rPr>
            </a:b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dirty="0">
                <a:latin typeface="Cambria" panose="02040503050406030204" pitchFamily="18" charset="0"/>
                <a:ea typeface="Cambria" panose="02040503050406030204" pitchFamily="18" charset="0"/>
              </a:rPr>
              <a:t>Batch Number: CIT_32</a:t>
            </a:r>
          </a:p>
          <a:p>
            <a:pPr marL="0" lvl="0" indent="0" algn="l">
              <a:spcBef>
                <a:spcPts val="0"/>
              </a:spcBef>
            </a:pPr>
            <a:endParaRPr lang="en-GB"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lvl="0" algn="ctr">
              <a:buClr>
                <a:srgbClr val="17365D"/>
              </a:buClr>
              <a:buSzPts val="2000"/>
            </a:pPr>
            <a:r>
              <a:rPr lang="en-US" sz="16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US" sz="1600" dirty="0">
              <a:latin typeface="Cambria" panose="02040503050406030204" pitchFamily="18" charset="0"/>
              <a:ea typeface="Cambria" panose="02040503050406030204" pitchFamily="18" charset="0"/>
            </a:endParaRPr>
          </a:p>
          <a:p>
            <a:pPr lvl="0" algn="ctr">
              <a:spcBef>
                <a:spcPts val="400"/>
              </a:spcBef>
              <a:buClr>
                <a:srgbClr val="17365D"/>
              </a:buClr>
              <a:buSzPts val="2000"/>
            </a:pPr>
            <a:endParaRPr lang="en-US" sz="16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1600" b="1" dirty="0">
                <a:solidFill>
                  <a:srgbClr val="17365D"/>
                </a:solidFill>
                <a:latin typeface="Cambria" panose="02040503050406030204" pitchFamily="18" charset="0"/>
                <a:ea typeface="Cambria" panose="02040503050406030204" pitchFamily="18" charset="0"/>
                <a:cs typeface="Verdana"/>
                <a:sym typeface="Verdana"/>
              </a:rPr>
              <a:t>Ms. Pushpalatha M,</a:t>
            </a:r>
            <a:endParaRPr lang="en-US"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6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lang="en-US"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6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lang="en-US"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6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lang="en-US" sz="1600" dirty="0">
              <a:latin typeface="Cambria" panose="02040503050406030204" pitchFamily="18" charset="0"/>
              <a:ea typeface="Cambria" panose="02040503050406030204" pitchFamily="18" charset="0"/>
            </a:endParaRPr>
          </a:p>
          <a:p>
            <a:pPr lvl="0">
              <a:spcBef>
                <a:spcPts val="400"/>
              </a:spcBef>
              <a:buClr>
                <a:srgbClr val="17365D"/>
              </a:buClr>
              <a:buSzPts val="2000"/>
            </a:pPr>
            <a:endParaRPr lang="en-US" sz="16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CSE7302- University Project</a:t>
            </a:r>
            <a:endParaRPr lang="en-GB" sz="1800" dirty="0">
              <a:latin typeface="Cambria" panose="02040503050406030204" pitchFamily="18" charset="0"/>
              <a:ea typeface="Cambria" panose="02040503050406030204" pitchFamily="18" charset="0"/>
            </a:endParaRPr>
          </a:p>
          <a:p>
            <a:pPr lvl="0" algn="ctr">
              <a:spcBef>
                <a:spcPts val="310"/>
              </a:spcBef>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Review-5</a:t>
            </a:r>
          </a:p>
          <a:p>
            <a:pPr marL="0" marR="0" lvl="0" indent="0" algn="ctr" rtl="0">
              <a:spcBef>
                <a:spcPts val="0"/>
              </a:spcBef>
              <a:spcAft>
                <a:spcPts val="0"/>
              </a:spcAft>
              <a:buClr>
                <a:srgbClr val="17365D"/>
              </a:buClr>
              <a:buSzPct val="100000"/>
              <a:buFont typeface="Arial"/>
              <a:buNone/>
            </a:pP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285135" y="4632222"/>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CIT- INTERNET OF THINGS</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bg2">
                    <a:lumMod val="60000"/>
                    <a:lumOff val="40000"/>
                  </a:schemeClr>
                </a:solidFill>
                <a:latin typeface="Cambria" panose="02040503050406030204" pitchFamily="18" charset="0"/>
                <a:ea typeface="Cambria" panose="02040503050406030204" pitchFamily="18" charset="0"/>
                <a:cs typeface="Verdana"/>
                <a:sym typeface="Verdana"/>
              </a:rPr>
              <a:t> : </a:t>
            </a:r>
            <a:r>
              <a:rPr lang="en-US" sz="1800" b="1" dirty="0">
                <a:solidFill>
                  <a:schemeClr val="tx1"/>
                </a:solidFill>
                <a:latin typeface="Cambria" panose="02040503050406030204" pitchFamily="18" charset="0"/>
                <a:ea typeface="Cambria" panose="02040503050406030204" pitchFamily="18" charset="0"/>
                <a:cs typeface="Verdana"/>
                <a:sym typeface="Verdana"/>
              </a:rPr>
              <a:t>Dr. Anandaraj S.P</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Dr. </a:t>
            </a:r>
            <a:r>
              <a:rPr lang="en-US" sz="1800" b="1" dirty="0" err="1">
                <a:solidFill>
                  <a:schemeClr val="tx1"/>
                </a:solidFill>
                <a:latin typeface="Cambria" panose="02040503050406030204" pitchFamily="18" charset="0"/>
                <a:ea typeface="Cambria" panose="02040503050406030204" pitchFamily="18" charset="0"/>
                <a:cs typeface="Verdana"/>
                <a:sym typeface="Verdana"/>
              </a:rPr>
              <a:t>Sharmasth</a:t>
            </a:r>
            <a:r>
              <a:rPr lang="en-US" sz="1800" b="1" dirty="0">
                <a:solidFill>
                  <a:schemeClr val="tx1"/>
                </a:solidFill>
                <a:latin typeface="Cambria" panose="02040503050406030204" pitchFamily="18" charset="0"/>
                <a:ea typeface="Cambria" panose="02040503050406030204" pitchFamily="18" charset="0"/>
                <a:cs typeface="Verdana"/>
                <a:sym typeface="Verdana"/>
              </a:rPr>
              <a:t> Vali Y</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61C0FD79-500C-DD53-BFEA-5587EEBDB3EA}"/>
              </a:ext>
            </a:extLst>
          </p:cNvPr>
          <p:cNvGraphicFramePr>
            <a:graphicFrameLocks noGrp="1"/>
          </p:cNvGraphicFramePr>
          <p:nvPr>
            <p:extLst>
              <p:ext uri="{D42A27DB-BD31-4B8C-83A1-F6EECF244321}">
                <p14:modId xmlns:p14="http://schemas.microsoft.com/office/powerpoint/2010/main" val="507855075"/>
              </p:ext>
            </p:extLst>
          </p:nvPr>
        </p:nvGraphicFramePr>
        <p:xfrm>
          <a:off x="871056" y="2769117"/>
          <a:ext cx="4889910" cy="1691640"/>
        </p:xfrm>
        <a:graphic>
          <a:graphicData uri="http://schemas.openxmlformats.org/drawingml/2006/table">
            <a:tbl>
              <a:tblPr firstRow="1" bandRow="1"/>
              <a:tblGrid>
                <a:gridCol w="2444955">
                  <a:extLst>
                    <a:ext uri="{9D8B030D-6E8A-4147-A177-3AD203B41FA5}">
                      <a16:colId xmlns:a16="http://schemas.microsoft.com/office/drawing/2014/main" val="356949612"/>
                    </a:ext>
                  </a:extLst>
                </a:gridCol>
                <a:gridCol w="2444955">
                  <a:extLst>
                    <a:ext uri="{9D8B030D-6E8A-4147-A177-3AD203B41FA5}">
                      <a16:colId xmlns:a16="http://schemas.microsoft.com/office/drawing/2014/main" val="1221776954"/>
                    </a:ext>
                  </a:extLst>
                </a:gridCol>
              </a:tblGrid>
              <a:tr h="35415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1" u="none" strike="noStrike" cap="none" dirty="0">
                          <a:solidFill>
                            <a:srgbClr val="17365D"/>
                          </a:solidFill>
                          <a:latin typeface="Bookman Old Style" panose="02050604050505020204" pitchFamily="18" charset="0"/>
                        </a:rPr>
                        <a:t>Roll Number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1" u="none" strike="noStrike" cap="none" dirty="0">
                          <a:solidFill>
                            <a:srgbClr val="17365D"/>
                          </a:solidFill>
                          <a:latin typeface="Bookman Old Style" panose="02050604050505020204" pitchFamily="18" charset="0"/>
                        </a:rPr>
                        <a:t>Student Name</a:t>
                      </a:r>
                    </a:p>
                    <a:p>
                      <a:endParaRPr lang="en-IN" dirty="0"/>
                    </a:p>
                  </a:txBody>
                  <a:tcPr/>
                </a:tc>
                <a:extLst>
                  <a:ext uri="{0D108BD9-81ED-4DB2-BD59-A6C34878D82A}">
                    <a16:rowId xmlns:a16="http://schemas.microsoft.com/office/drawing/2014/main" val="4096181375"/>
                  </a:ext>
                </a:extLst>
              </a:tr>
              <a:tr h="370840">
                <a:tc>
                  <a:txBody>
                    <a:bodyPr/>
                    <a:lstStyle/>
                    <a:p>
                      <a:pPr algn="ctr"/>
                      <a:r>
                        <a:rPr lang="en-IN" dirty="0"/>
                        <a:t> 20221CIT0130</a:t>
                      </a:r>
                    </a:p>
                  </a:txBody>
                  <a:tcPr/>
                </a:tc>
                <a:tc>
                  <a:txBody>
                    <a:bodyPr/>
                    <a:lstStyle/>
                    <a:p>
                      <a:pPr algn="ctr"/>
                      <a:r>
                        <a:rPr lang="en-US" dirty="0"/>
                        <a:t>N</a:t>
                      </a:r>
                      <a:r>
                        <a:rPr lang="en-IN" dirty="0"/>
                        <a:t>ITHYA H D</a:t>
                      </a:r>
                    </a:p>
                  </a:txBody>
                  <a:tcPr/>
                </a:tc>
                <a:extLst>
                  <a:ext uri="{0D108BD9-81ED-4DB2-BD59-A6C34878D82A}">
                    <a16:rowId xmlns:a16="http://schemas.microsoft.com/office/drawing/2014/main" val="851305001"/>
                  </a:ext>
                </a:extLst>
              </a:tr>
              <a:tr h="370840">
                <a:tc>
                  <a:txBody>
                    <a:bodyPr/>
                    <a:lstStyle/>
                    <a:p>
                      <a:pPr algn="ctr"/>
                      <a:r>
                        <a:rPr lang="en-IN" dirty="0"/>
                        <a:t>20221CIT0126</a:t>
                      </a:r>
                    </a:p>
                  </a:txBody>
                  <a:tcPr/>
                </a:tc>
                <a:tc>
                  <a:txBody>
                    <a:bodyPr/>
                    <a:lstStyle/>
                    <a:p>
                      <a:pPr algn="ctr"/>
                      <a:r>
                        <a:rPr lang="en-US" dirty="0"/>
                        <a:t>S</a:t>
                      </a:r>
                      <a:r>
                        <a:rPr lang="en-IN" dirty="0"/>
                        <a:t>HREYA A J</a:t>
                      </a:r>
                    </a:p>
                  </a:txBody>
                  <a:tcPr/>
                </a:tc>
                <a:extLst>
                  <a:ext uri="{0D108BD9-81ED-4DB2-BD59-A6C34878D82A}">
                    <a16:rowId xmlns:a16="http://schemas.microsoft.com/office/drawing/2014/main" val="2943834356"/>
                  </a:ext>
                </a:extLst>
              </a:tr>
              <a:tr h="370840">
                <a:tc>
                  <a:txBody>
                    <a:bodyPr/>
                    <a:lstStyle/>
                    <a:p>
                      <a:pPr algn="ctr"/>
                      <a:r>
                        <a:rPr lang="en-IN" dirty="0"/>
                        <a:t>20221CIT0123</a:t>
                      </a:r>
                    </a:p>
                  </a:txBody>
                  <a:tcPr/>
                </a:tc>
                <a:tc>
                  <a:txBody>
                    <a:bodyPr/>
                    <a:lstStyle/>
                    <a:p>
                      <a:pPr algn="ctr"/>
                      <a:r>
                        <a:rPr lang="en-US" dirty="0"/>
                        <a:t>M</a:t>
                      </a:r>
                      <a:r>
                        <a:rPr lang="en-IN" dirty="0"/>
                        <a:t>ANISHA S M</a:t>
                      </a:r>
                    </a:p>
                  </a:txBody>
                  <a:tcPr/>
                </a:tc>
                <a:extLst>
                  <a:ext uri="{0D108BD9-81ED-4DB2-BD59-A6C34878D82A}">
                    <a16:rowId xmlns:a16="http://schemas.microsoft.com/office/drawing/2014/main" val="126427147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32465" y="205812"/>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67291" y="1102479"/>
            <a:ext cx="10668000" cy="3924299"/>
          </a:xfrm>
          <a:prstGeom prst="rect">
            <a:avLst/>
          </a:prstGeom>
          <a:noFill/>
          <a:ln>
            <a:noFill/>
          </a:ln>
        </p:spPr>
        <p:txBody>
          <a:bodyPr spcFirstLastPara="1" wrap="square" lIns="91425" tIns="45700" rIns="91425" bIns="45700" anchor="t" anchorCtr="0">
            <a:noAutofit/>
          </a:bodyPr>
          <a:lstStyle/>
          <a:p>
            <a:pPr marL="438150" indent="-285750" algn="just">
              <a:lnSpc>
                <a:spcPct val="200000"/>
              </a:lnSpc>
              <a:spcBef>
                <a:spcPts val="0"/>
              </a:spcBef>
            </a:pPr>
            <a:r>
              <a:rPr lang="en-US" sz="1400" dirty="0">
                <a:latin typeface="Cambria" panose="02040503050406030204" pitchFamily="18" charset="0"/>
                <a:ea typeface="Cambria" panose="02040503050406030204" pitchFamily="18" charset="0"/>
              </a:rPr>
              <a:t>Abstract</a:t>
            </a:r>
          </a:p>
          <a:p>
            <a:pPr marL="438150" indent="-285750" algn="just">
              <a:lnSpc>
                <a:spcPct val="200000"/>
              </a:lnSpc>
              <a:spcBef>
                <a:spcPts val="0"/>
              </a:spcBef>
            </a:pPr>
            <a:r>
              <a:rPr lang="en-US" sz="1400" dirty="0">
                <a:latin typeface="Cambria" panose="02040503050406030204" pitchFamily="18" charset="0"/>
                <a:ea typeface="Cambria" panose="02040503050406030204" pitchFamily="18" charset="0"/>
              </a:rPr>
              <a:t>Literature Survey</a:t>
            </a:r>
          </a:p>
          <a:p>
            <a:pPr marL="438150" indent="-285750" algn="just">
              <a:lnSpc>
                <a:spcPct val="200000"/>
              </a:lnSpc>
              <a:spcBef>
                <a:spcPts val="0"/>
              </a:spcBef>
            </a:pPr>
            <a:r>
              <a:rPr lang="en-US" sz="1400" dirty="0">
                <a:latin typeface="Cambria" panose="02040503050406030204" pitchFamily="18" charset="0"/>
                <a:ea typeface="Cambria" panose="02040503050406030204" pitchFamily="18" charset="0"/>
              </a:rPr>
              <a:t>Objectives</a:t>
            </a:r>
          </a:p>
          <a:p>
            <a:pPr marL="438150" indent="-285750" algn="just">
              <a:lnSpc>
                <a:spcPct val="200000"/>
              </a:lnSpc>
              <a:spcBef>
                <a:spcPts val="0"/>
              </a:spcBef>
            </a:pPr>
            <a:r>
              <a:rPr lang="en-US" sz="1400" dirty="0">
                <a:latin typeface="Cambria" panose="02040503050406030204" pitchFamily="18" charset="0"/>
                <a:ea typeface="Cambria" panose="02040503050406030204" pitchFamily="18" charset="0"/>
              </a:rPr>
              <a:t>Existing Methods and Drawbacks</a:t>
            </a:r>
          </a:p>
          <a:p>
            <a:pPr marL="438150" indent="-285750" algn="just">
              <a:lnSpc>
                <a:spcPct val="200000"/>
              </a:lnSpc>
              <a:spcBef>
                <a:spcPts val="0"/>
              </a:spcBef>
            </a:pPr>
            <a:r>
              <a:rPr lang="en-IN" sz="1400" dirty="0">
                <a:latin typeface="Cambria" panose="02040503050406030204" pitchFamily="18" charset="0"/>
                <a:ea typeface="Cambria" panose="02040503050406030204" pitchFamily="18" charset="0"/>
              </a:rPr>
              <a:t>Proposed Method &amp; Feasibility Study</a:t>
            </a:r>
          </a:p>
          <a:p>
            <a:pPr marL="438150" indent="-285750" algn="just">
              <a:lnSpc>
                <a:spcPct val="200000"/>
              </a:lnSpc>
              <a:spcBef>
                <a:spcPts val="0"/>
              </a:spcBef>
            </a:pPr>
            <a:r>
              <a:rPr lang="en-IN" sz="1400" dirty="0">
                <a:latin typeface="Cambria" panose="02040503050406030204" pitchFamily="18" charset="0"/>
                <a:ea typeface="Cambria" panose="02040503050406030204" pitchFamily="18" charset="0"/>
              </a:rPr>
              <a:t>Architecture Diagram</a:t>
            </a:r>
          </a:p>
          <a:p>
            <a:pPr marL="438150" indent="-285750" algn="just">
              <a:lnSpc>
                <a:spcPct val="200000"/>
              </a:lnSpc>
              <a:spcBef>
                <a:spcPts val="0"/>
              </a:spcBef>
            </a:pPr>
            <a:r>
              <a:rPr lang="en-IN" sz="1400" dirty="0">
                <a:latin typeface="Cambria" panose="02040503050406030204" pitchFamily="18" charset="0"/>
                <a:ea typeface="Cambria" panose="02040503050406030204" pitchFamily="18" charset="0"/>
              </a:rPr>
              <a:t>Modules</a:t>
            </a:r>
          </a:p>
          <a:p>
            <a:pPr marL="438150" indent="-285750" algn="just">
              <a:lnSpc>
                <a:spcPct val="200000"/>
              </a:lnSpc>
              <a:spcBef>
                <a:spcPts val="0"/>
              </a:spcBef>
            </a:pPr>
            <a:r>
              <a:rPr lang="en-IN" sz="1400" dirty="0">
                <a:latin typeface="Cambria" panose="02040503050406030204" pitchFamily="18" charset="0"/>
                <a:ea typeface="Cambria" panose="02040503050406030204" pitchFamily="18" charset="0"/>
              </a:rPr>
              <a:t>Hardware and Software Details</a:t>
            </a:r>
          </a:p>
          <a:p>
            <a:pPr marL="438150" indent="-285750" algn="just">
              <a:lnSpc>
                <a:spcPct val="200000"/>
              </a:lnSpc>
              <a:spcBef>
                <a:spcPts val="0"/>
              </a:spcBef>
            </a:pPr>
            <a:r>
              <a:rPr lang="en-US" sz="1400" dirty="0" err="1">
                <a:latin typeface="Cambria" panose="02040503050406030204" pitchFamily="18" charset="0"/>
                <a:ea typeface="Cambria" panose="02040503050406030204" pitchFamily="18" charset="0"/>
              </a:rPr>
              <a:t>Github</a:t>
            </a:r>
            <a:r>
              <a:rPr lang="en-US" sz="1400" dirty="0">
                <a:latin typeface="Cambria" panose="02040503050406030204" pitchFamily="18" charset="0"/>
                <a:ea typeface="Cambria" panose="02040503050406030204" pitchFamily="18" charset="0"/>
              </a:rPr>
              <a:t> Link</a:t>
            </a:r>
          </a:p>
          <a:p>
            <a:pPr marL="438150" indent="-285750" algn="just">
              <a:lnSpc>
                <a:spcPct val="200000"/>
              </a:lnSpc>
              <a:spcBef>
                <a:spcPts val="0"/>
              </a:spcBef>
            </a:pPr>
            <a:r>
              <a:rPr lang="en-IN" sz="1400" dirty="0">
                <a:latin typeface="Cambria" panose="02040503050406030204" pitchFamily="18" charset="0"/>
                <a:ea typeface="Cambria" panose="02040503050406030204" pitchFamily="18" charset="0"/>
              </a:rPr>
              <a:t>Timeline (Gantt Chart)</a:t>
            </a:r>
          </a:p>
          <a:p>
            <a:pPr marL="438150" indent="-285750" algn="just">
              <a:lnSpc>
                <a:spcPct val="200000"/>
              </a:lnSpc>
              <a:spcBef>
                <a:spcPts val="0"/>
              </a:spcBef>
            </a:pPr>
            <a:r>
              <a:rPr lang="en-IN" sz="1400" dirty="0">
                <a:latin typeface="Cambria" panose="02040503050406030204" pitchFamily="18" charset="0"/>
                <a:ea typeface="Cambria" panose="02040503050406030204" pitchFamily="18" charset="0"/>
              </a:rPr>
              <a:t>References</a:t>
            </a:r>
          </a:p>
          <a:p>
            <a:pPr marL="495300" lvl="0" indent="-342900" algn="just">
              <a:lnSpc>
                <a:spcPct val="200000"/>
              </a:lnSpc>
              <a:spcBef>
                <a:spcPts val="0"/>
              </a:spcBef>
              <a:buFont typeface="Arial" panose="020B0604020202020204" pitchFamily="34" charset="0"/>
              <a:buChar char="•"/>
            </a:pPr>
            <a:endParaRPr lang="en-US" sz="1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14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Text Placeholder 2"/>
          <p:cNvSpPr>
            <a:spLocks noGrp="1"/>
          </p:cNvSpPr>
          <p:nvPr>
            <p:ph type="body" idx="1"/>
          </p:nvPr>
        </p:nvSpPr>
        <p:spPr/>
        <p:txBody>
          <a:bodyPr>
            <a:noAutofit/>
          </a:bodyPr>
          <a:lstStyle/>
          <a:p>
            <a:pPr marL="76200" indent="0" algn="just">
              <a:buNone/>
            </a:pPr>
            <a:r>
              <a:rPr lang="en-US" sz="2000" dirty="0" err="1">
                <a:latin typeface="Times New Roman" panose="02020603050405020304" pitchFamily="18" charset="0"/>
                <a:cs typeface="Times New Roman" panose="02020603050405020304" pitchFamily="18" charset="0"/>
              </a:rPr>
              <a:t>SafeLearn</a:t>
            </a:r>
            <a:r>
              <a:rPr lang="en-US" sz="2000" dirty="0">
                <a:latin typeface="Times New Roman" panose="02020603050405020304" pitchFamily="18" charset="0"/>
                <a:cs typeface="Times New Roman" panose="02020603050405020304" pitchFamily="18" charset="0"/>
              </a:rPr>
              <a:t> is an AI-powered disaster preparedness web platform developed to provide instant emergency guidance, disaster awareness resources, and secure user access through an interactive online system. The platform addresses the limitations of traditional static information sources by offering real-time assistance using a Generative AI chatbot. It was built using modern technologies such as Next.js, React.js, Tailwind CSS, Firebase Authentication, </a:t>
            </a:r>
            <a:r>
              <a:rPr lang="en-US" sz="2000" dirty="0" err="1">
                <a:latin typeface="Times New Roman" panose="02020603050405020304" pitchFamily="18" charset="0"/>
                <a:cs typeface="Times New Roman" panose="02020603050405020304" pitchFamily="18" charset="0"/>
              </a:rPr>
              <a:t>Firestore</a:t>
            </a:r>
            <a:r>
              <a:rPr lang="en-US" sz="2000" dirty="0">
                <a:latin typeface="Times New Roman" panose="02020603050405020304" pitchFamily="18" charset="0"/>
                <a:cs typeface="Times New Roman" panose="02020603050405020304" pitchFamily="18" charset="0"/>
              </a:rPr>
              <a:t> Database, and deployed on </a:t>
            </a:r>
            <a:r>
              <a:rPr lang="en-US" sz="2000" dirty="0" err="1">
                <a:latin typeface="Times New Roman" panose="02020603050405020304" pitchFamily="18" charset="0"/>
                <a:cs typeface="Times New Roman" panose="02020603050405020304" pitchFamily="18" charset="0"/>
              </a:rPr>
              <a:t>Vercel</a:t>
            </a:r>
            <a:r>
              <a:rPr lang="en-US" sz="2000" dirty="0">
                <a:latin typeface="Times New Roman" panose="02020603050405020304" pitchFamily="18" charset="0"/>
                <a:cs typeface="Times New Roman" panose="02020603050405020304" pitchFamily="18" charset="0"/>
              </a:rPr>
              <a:t> for scalable cloud access.</a:t>
            </a:r>
          </a:p>
          <a:p>
            <a:pPr marL="76200" indent="0" algn="just">
              <a:buNone/>
            </a:pPr>
            <a:r>
              <a:rPr lang="en-US" sz="2000" dirty="0">
                <a:latin typeface="Times New Roman" panose="02020603050405020304" pitchFamily="18" charset="0"/>
                <a:cs typeface="Times New Roman" panose="02020603050405020304" pitchFamily="18" charset="0"/>
              </a:rPr>
              <a:t>The system enables users to access preparedness information for disasters such as fire, flood, earthquakes, and first aid situations through a responsive and user-friendly interface. Performance optimization techniques including lazy loading, dynamic imports, image optimization, and efficient Firebase listeners improved the Lighthouse score from approximately 29 to 92+. The chatbot provides quick responses in less than 3 seconds with high relevance for common emergency queries.</a:t>
            </a:r>
          </a:p>
          <a:p>
            <a:pPr marL="76200" indent="0" algn="just">
              <a:buNone/>
            </a:pPr>
            <a:r>
              <a:rPr lang="en-US" sz="2000" dirty="0" err="1">
                <a:latin typeface="Times New Roman" panose="02020603050405020304" pitchFamily="18" charset="0"/>
                <a:cs typeface="Times New Roman" panose="02020603050405020304" pitchFamily="18" charset="0"/>
              </a:rPr>
              <a:t>SafeLearn</a:t>
            </a:r>
            <a:r>
              <a:rPr lang="en-US" sz="2000" dirty="0">
                <a:latin typeface="Times New Roman" panose="02020603050405020304" pitchFamily="18" charset="0"/>
                <a:cs typeface="Times New Roman" panose="02020603050405020304" pitchFamily="18" charset="0"/>
              </a:rPr>
              <a:t> demonstrates a cost-effective and scalable solution for improving public safety awareness, digital emergency support, and future readiness for IoT integration, multilingual assistance, offline access, and mobile application development.</a:t>
            </a: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Rectangle 1">
            <a:extLst>
              <a:ext uri="{FF2B5EF4-FFF2-40B4-BE49-F238E27FC236}">
                <a16:creationId xmlns:a16="http://schemas.microsoft.com/office/drawing/2014/main" id="{F944A60B-145C-9825-FD6F-237CDD71457A}"/>
              </a:ext>
            </a:extLst>
          </p:cNvPr>
          <p:cNvSpPr>
            <a:spLocks noGrp="1" noChangeArrowheads="1"/>
          </p:cNvSpPr>
          <p:nvPr>
            <p:ph type="body" idx="1"/>
          </p:nvPr>
        </p:nvSpPr>
        <p:spPr bwMode="auto">
          <a:xfrm>
            <a:off x="1178560" y="956743"/>
            <a:ext cx="958279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AI-powered web platform for disaster preparedness and emergency    guidance.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instant assistance through a Generative AI chatbot for disaster-related queries.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awareness about fire, flood, earthquake, first aid, and safety measures.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secure user authentication and cloud-based data management.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responsive and user-friendly interface accessible on multiple devices.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optimize website performance for fast loading and smooth user experience.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scalable platform for future IoT sensor integration and mobile app development.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446" y="245093"/>
            <a:ext cx="10668000" cy="487500"/>
          </a:xfrm>
        </p:spPr>
        <p:txBody>
          <a:bodyPr/>
          <a:lstStyle/>
          <a:p>
            <a:r>
              <a:rPr lang="en-US" dirty="0"/>
              <a:t>ALGORITHM DETAILS</a:t>
            </a:r>
            <a:endParaRPr dirty="0"/>
          </a:p>
        </p:txBody>
      </p:sp>
      <p:sp>
        <p:nvSpPr>
          <p:cNvPr id="9" name="Text Placeholder 2"/>
          <p:cNvSpPr>
            <a:spLocks noGrp="1"/>
          </p:cNvSpPr>
          <p:nvPr>
            <p:ph type="body" idx="1"/>
          </p:nvPr>
        </p:nvSpPr>
        <p:spPr>
          <a:xfrm>
            <a:off x="624541" y="954742"/>
            <a:ext cx="10668000" cy="4953000"/>
          </a:xfrm>
        </p:spPr>
        <p:txBody>
          <a:bodyPr>
            <a:noAutofit/>
          </a:bodyPr>
          <a:lstStyle/>
          <a:p>
            <a:r>
              <a:rPr lang="en-US" sz="2200" b="1" dirty="0">
                <a:latin typeface="Times New Roman" panose="02020603050405020304" pitchFamily="18" charset="0"/>
                <a:cs typeface="Times New Roman" panose="02020603050405020304" pitchFamily="18" charset="0"/>
              </a:rPr>
              <a:t>Algorithm Used: Generative AI Chatbot with Rule-Based Query Processing</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a:t>
            </a:r>
            <a:r>
              <a:rPr lang="en-US" sz="2200" dirty="0" err="1">
                <a:latin typeface="Times New Roman" panose="02020603050405020304" pitchFamily="18" charset="0"/>
                <a:cs typeface="Times New Roman" panose="02020603050405020304" pitchFamily="18" charset="0"/>
              </a:rPr>
              <a:t>SafeLearn</a:t>
            </a:r>
            <a:r>
              <a:rPr lang="en-US" sz="2200" dirty="0">
                <a:latin typeface="Times New Roman" panose="02020603050405020304" pitchFamily="18" charset="0"/>
                <a:cs typeface="Times New Roman" panose="02020603050405020304" pitchFamily="18" charset="0"/>
              </a:rPr>
              <a:t> platform uses a </a:t>
            </a:r>
            <a:r>
              <a:rPr lang="en-US" sz="2200" b="1" dirty="0">
                <a:latin typeface="Times New Roman" panose="02020603050405020304" pitchFamily="18" charset="0"/>
                <a:cs typeface="Times New Roman" panose="02020603050405020304" pitchFamily="18" charset="0"/>
              </a:rPr>
              <a:t>Generative AI (GenAI) chatbot</a:t>
            </a:r>
            <a:r>
              <a:rPr lang="en-US" sz="2200" dirty="0">
                <a:latin typeface="Times New Roman" panose="02020603050405020304" pitchFamily="18" charset="0"/>
                <a:cs typeface="Times New Roman" panose="02020603050405020304" pitchFamily="18" charset="0"/>
              </a:rPr>
              <a:t> to understand user queries and provide disaster preparedness guidance. </a:t>
            </a:r>
          </a:p>
          <a:p>
            <a:r>
              <a:rPr lang="en-US" sz="2200" dirty="0">
                <a:latin typeface="Times New Roman" panose="02020603050405020304" pitchFamily="18" charset="0"/>
                <a:cs typeface="Times New Roman" panose="02020603050405020304" pitchFamily="18" charset="0"/>
              </a:rPr>
              <a:t>Natural Language Processing (NLP) is used to interpret user questions related to fire, flood, earthquake, first aid, and emergency situations. </a:t>
            </a:r>
          </a:p>
          <a:p>
            <a:r>
              <a:rPr lang="en-US" sz="2200" dirty="0">
                <a:latin typeface="Times New Roman" panose="02020603050405020304" pitchFamily="18" charset="0"/>
                <a:cs typeface="Times New Roman" panose="02020603050405020304" pitchFamily="18" charset="0"/>
              </a:rPr>
              <a:t>The chatbot analyzes keywords and context from the user input. </a:t>
            </a:r>
          </a:p>
          <a:p>
            <a:r>
              <a:rPr lang="en-US" sz="2200" dirty="0">
                <a:latin typeface="Times New Roman" panose="02020603050405020304" pitchFamily="18" charset="0"/>
                <a:cs typeface="Times New Roman" panose="02020603050405020304" pitchFamily="18" charset="0"/>
              </a:rPr>
              <a:t>Relevant disaster information and safety instructions are generated in real time. </a:t>
            </a:r>
          </a:p>
          <a:p>
            <a:r>
              <a:rPr lang="en-US" sz="2200" dirty="0">
                <a:latin typeface="Times New Roman" panose="02020603050405020304" pitchFamily="18" charset="0"/>
                <a:cs typeface="Times New Roman" panose="02020603050405020304" pitchFamily="18" charset="0"/>
              </a:rPr>
              <a:t>Frequently asked queries are mapped with predefined safety responses for faster accuracy. </a:t>
            </a:r>
          </a:p>
          <a:p>
            <a:r>
              <a:rPr lang="en-US" sz="2200" dirty="0">
                <a:latin typeface="Times New Roman" panose="02020603050405020304" pitchFamily="18" charset="0"/>
                <a:cs typeface="Times New Roman" panose="02020603050405020304" pitchFamily="18" charset="0"/>
              </a:rPr>
              <a:t>The system delivers responses in </a:t>
            </a:r>
            <a:r>
              <a:rPr lang="en-US" sz="2200" b="1" dirty="0">
                <a:latin typeface="Times New Roman" panose="02020603050405020304" pitchFamily="18" charset="0"/>
                <a:cs typeface="Times New Roman" panose="02020603050405020304" pitchFamily="18" charset="0"/>
              </a:rPr>
              <a:t>less than 3 seconds</a:t>
            </a:r>
            <a:r>
              <a:rPr lang="en-US" sz="2200" dirty="0">
                <a:latin typeface="Times New Roman" panose="02020603050405020304" pitchFamily="18" charset="0"/>
                <a:cs typeface="Times New Roman" panose="02020603050405020304" pitchFamily="18" charset="0"/>
              </a:rPr>
              <a:t> for common emergency questions. </a:t>
            </a:r>
          </a:p>
          <a:p>
            <a:r>
              <a:rPr lang="en-US" sz="2200" dirty="0">
                <a:latin typeface="Times New Roman" panose="02020603050405020304" pitchFamily="18" charset="0"/>
                <a:cs typeface="Times New Roman" panose="02020603050405020304" pitchFamily="18" charset="0"/>
              </a:rPr>
              <a:t>Future enhancement includes integrating </a:t>
            </a:r>
            <a:r>
              <a:rPr lang="en-US" sz="2200" b="1" dirty="0">
                <a:latin typeface="Times New Roman" panose="02020603050405020304" pitchFamily="18" charset="0"/>
                <a:cs typeface="Times New Roman" panose="02020603050405020304" pitchFamily="18" charset="0"/>
              </a:rPr>
              <a:t>Machine Learning models (LSTM / Random Forest)</a:t>
            </a:r>
            <a:r>
              <a:rPr lang="en-US" sz="2200" dirty="0">
                <a:latin typeface="Times New Roman" panose="02020603050405020304" pitchFamily="18" charset="0"/>
                <a:cs typeface="Times New Roman" panose="02020603050405020304" pitchFamily="18" charset="0"/>
              </a:rPr>
              <a:t> for predictive disaster alerts.</a:t>
            </a:r>
          </a:p>
          <a:p>
            <a:pPr marL="76200" indent="0">
              <a:buNone/>
            </a:pP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Pseudo-code</a:t>
            </a:r>
          </a:p>
        </p:txBody>
      </p:sp>
      <p:sp>
        <p:nvSpPr>
          <p:cNvPr id="3" name="Text Placeholder 2"/>
          <p:cNvSpPr>
            <a:spLocks noGrp="1"/>
          </p:cNvSpPr>
          <p:nvPr>
            <p:ph type="body" idx="1"/>
          </p:nvPr>
        </p:nvSpPr>
        <p:spPr>
          <a:xfrm>
            <a:off x="812800" y="863600"/>
            <a:ext cx="10668000" cy="5232401"/>
          </a:xfrm>
        </p:spPr>
        <p:txBody>
          <a:bodyPr/>
          <a:lstStyle/>
          <a:p>
            <a:pPr marL="76200" indent="0">
              <a:buNone/>
            </a:pPr>
            <a:r>
              <a:rPr lang="en-US" dirty="0"/>
              <a:t>AI chatbot</a:t>
            </a:r>
          </a:p>
          <a:p>
            <a:pPr marL="76200" indent="0">
              <a:buNone/>
            </a:pPr>
            <a:endParaRPr lang="en-US" dirty="0"/>
          </a:p>
        </p:txBody>
      </p:sp>
      <p:pic>
        <p:nvPicPr>
          <p:cNvPr id="6" name="Picture 5">
            <a:extLst>
              <a:ext uri="{FF2B5EF4-FFF2-40B4-BE49-F238E27FC236}">
                <a16:creationId xmlns:a16="http://schemas.microsoft.com/office/drawing/2014/main" id="{78C38958-C1F4-35B2-54AD-CEE961D6BEC8}"/>
              </a:ext>
            </a:extLst>
          </p:cNvPr>
          <p:cNvPicPr>
            <a:picLocks noChangeAspect="1"/>
          </p:cNvPicPr>
          <p:nvPr/>
        </p:nvPicPr>
        <p:blipFill>
          <a:blip r:embed="rId2"/>
          <a:stretch>
            <a:fillRect/>
          </a:stretch>
        </p:blipFill>
        <p:spPr>
          <a:xfrm>
            <a:off x="1262380" y="1430294"/>
            <a:ext cx="9667240" cy="4564106"/>
          </a:xfrm>
          <a:prstGeom prst="rect">
            <a:avLst/>
          </a:prstGeom>
        </p:spPr>
      </p:pic>
    </p:spTree>
    <p:extLst>
      <p:ext uri="{BB962C8B-B14F-4D97-AF65-F5344CB8AC3E}">
        <p14:creationId xmlns:p14="http://schemas.microsoft.com/office/powerpoint/2010/main" val="127017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DETAILS</a:t>
            </a:r>
          </a:p>
        </p:txBody>
      </p:sp>
      <p:sp>
        <p:nvSpPr>
          <p:cNvPr id="4" name="Rectangle 1"/>
          <p:cNvSpPr>
            <a:spLocks noGrp="1" noChangeArrowheads="1"/>
          </p:cNvSpPr>
          <p:nvPr>
            <p:ph type="body" idx="1"/>
          </p:nvPr>
        </p:nvSpPr>
        <p:spPr bwMode="auto">
          <a:xfrm>
            <a:off x="812800" y="947623"/>
            <a:ext cx="10942320" cy="5473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latin typeface="Times New Roman" panose="02020603050405020304" pitchFamily="18" charset="0"/>
                <a:cs typeface="Times New Roman" panose="02020603050405020304" pitchFamily="18" charset="0"/>
              </a:rPr>
              <a:t>Algorithm Used: AI Response Generation and Query Matching</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User enters a disaster-related query into the </a:t>
            </a:r>
            <a:r>
              <a:rPr lang="en-US" sz="2200" dirty="0" err="1">
                <a:latin typeface="Times New Roman" panose="02020603050405020304" pitchFamily="18" charset="0"/>
                <a:cs typeface="Times New Roman" panose="02020603050405020304" pitchFamily="18" charset="0"/>
              </a:rPr>
              <a:t>SafeLearn</a:t>
            </a:r>
            <a:r>
              <a:rPr lang="en-US" sz="2200" dirty="0">
                <a:latin typeface="Times New Roman" panose="02020603050405020304" pitchFamily="18" charset="0"/>
                <a:cs typeface="Times New Roman" panose="02020603050405020304" pitchFamily="18" charset="0"/>
              </a:rPr>
              <a:t> chatbot. </a:t>
            </a:r>
          </a:p>
          <a:p>
            <a:r>
              <a:rPr lang="en-US" sz="2200" dirty="0">
                <a:latin typeface="Times New Roman" panose="02020603050405020304" pitchFamily="18" charset="0"/>
                <a:cs typeface="Times New Roman" panose="02020603050405020304" pitchFamily="18" charset="0"/>
              </a:rPr>
              <a:t>The system preprocesses the text by removing unnecessary words and identifying important keywords. </a:t>
            </a:r>
          </a:p>
          <a:p>
            <a:r>
              <a:rPr lang="en-US" sz="2200" dirty="0">
                <a:latin typeface="Times New Roman" panose="02020603050405020304" pitchFamily="18" charset="0"/>
                <a:cs typeface="Times New Roman" panose="02020603050405020304" pitchFamily="18" charset="0"/>
              </a:rPr>
              <a:t>Natural Language Processing (NLP) is applied to understand the intent of the query. </a:t>
            </a:r>
          </a:p>
          <a:p>
            <a:r>
              <a:rPr lang="en-US" sz="2200" dirty="0">
                <a:latin typeface="Times New Roman" panose="02020603050405020304" pitchFamily="18" charset="0"/>
                <a:cs typeface="Times New Roman" panose="02020603050405020304" pitchFamily="18" charset="0"/>
              </a:rPr>
              <a:t>The chatbot matches the query with relevant disaster categories such as fire, flood, earthquake, first aid, or emergency support. </a:t>
            </a:r>
          </a:p>
          <a:p>
            <a:r>
              <a:rPr lang="en-US" sz="2200" dirty="0">
                <a:latin typeface="Times New Roman" panose="02020603050405020304" pitchFamily="18" charset="0"/>
                <a:cs typeface="Times New Roman" panose="02020603050405020304" pitchFamily="18" charset="0"/>
              </a:rPr>
              <a:t>Generative AI then produces a meaningful and user-friendly response based on the detected context. </a:t>
            </a:r>
          </a:p>
          <a:p>
            <a:r>
              <a:rPr lang="en-US" sz="2200" dirty="0">
                <a:latin typeface="Times New Roman" panose="02020603050405020304" pitchFamily="18" charset="0"/>
                <a:cs typeface="Times New Roman" panose="02020603050405020304" pitchFamily="18" charset="0"/>
              </a:rPr>
              <a:t>The generated answer is displayed instantly through the web interface. </a:t>
            </a:r>
          </a:p>
          <a:p>
            <a:r>
              <a:rPr lang="en-US" sz="2200" dirty="0">
                <a:latin typeface="Times New Roman" panose="02020603050405020304" pitchFamily="18" charset="0"/>
                <a:cs typeface="Times New Roman" panose="02020603050405020304" pitchFamily="18" charset="0"/>
              </a:rPr>
              <a:t>Continuous testing and prompt refinement improve chatbot accuracy and relevance. </a:t>
            </a:r>
          </a:p>
          <a:p>
            <a:r>
              <a:rPr lang="en-US" sz="2200" dirty="0">
                <a:latin typeface="Times New Roman" panose="02020603050405020304" pitchFamily="18" charset="0"/>
                <a:cs typeface="Times New Roman" panose="02020603050405020304" pitchFamily="18" charset="0"/>
              </a:rPr>
              <a:t>Future versions can include machine learning algorithms for prediction and personalized recommendations.</a:t>
            </a:r>
          </a:p>
          <a:p>
            <a:pPr marL="76200" indent="0">
              <a:buNone/>
            </a:pP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79696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Pseudo-code</a:t>
            </a:r>
          </a:p>
        </p:txBody>
      </p:sp>
      <p:sp>
        <p:nvSpPr>
          <p:cNvPr id="3" name="Text Placeholder 2"/>
          <p:cNvSpPr>
            <a:spLocks noGrp="1"/>
          </p:cNvSpPr>
          <p:nvPr>
            <p:ph type="body" idx="1"/>
          </p:nvPr>
        </p:nvSpPr>
        <p:spPr>
          <a:xfrm>
            <a:off x="546100" y="1092203"/>
            <a:ext cx="5384700" cy="4526100"/>
          </a:xfrm>
        </p:spPr>
        <p:txBody>
          <a:bodyPr/>
          <a:lstStyle/>
          <a:p>
            <a:pPr marL="50800" indent="0">
              <a:buNone/>
            </a:pPr>
            <a:r>
              <a:rPr lang="en-US" dirty="0"/>
              <a:t>Main Dashboard</a:t>
            </a:r>
          </a:p>
        </p:txBody>
      </p:sp>
      <p:sp>
        <p:nvSpPr>
          <p:cNvPr id="4" name="Text Placeholder 3"/>
          <p:cNvSpPr>
            <a:spLocks noGrp="1"/>
          </p:cNvSpPr>
          <p:nvPr>
            <p:ph type="body" idx="2"/>
          </p:nvPr>
        </p:nvSpPr>
        <p:spPr>
          <a:xfrm>
            <a:off x="6134100" y="1092203"/>
            <a:ext cx="5384700" cy="4526100"/>
          </a:xfrm>
        </p:spPr>
        <p:txBody>
          <a:bodyPr/>
          <a:lstStyle/>
          <a:p>
            <a:pPr marL="50800" indent="0">
              <a:buNone/>
            </a:pPr>
            <a:r>
              <a:rPr lang="en-US" dirty="0"/>
              <a:t>Student Login</a:t>
            </a:r>
          </a:p>
        </p:txBody>
      </p:sp>
      <p:pic>
        <p:nvPicPr>
          <p:cNvPr id="8" name="Picture 7">
            <a:extLst>
              <a:ext uri="{FF2B5EF4-FFF2-40B4-BE49-F238E27FC236}">
                <a16:creationId xmlns:a16="http://schemas.microsoft.com/office/drawing/2014/main" id="{5E778BEE-5093-2286-2DAC-5B888947696F}"/>
              </a:ext>
            </a:extLst>
          </p:cNvPr>
          <p:cNvPicPr>
            <a:picLocks noChangeAspect="1"/>
          </p:cNvPicPr>
          <p:nvPr/>
        </p:nvPicPr>
        <p:blipFill>
          <a:blip r:embed="rId3"/>
          <a:stretch>
            <a:fillRect/>
          </a:stretch>
        </p:blipFill>
        <p:spPr>
          <a:xfrm>
            <a:off x="183142" y="1669143"/>
            <a:ext cx="5736960" cy="3949159"/>
          </a:xfrm>
          <a:prstGeom prst="rect">
            <a:avLst/>
          </a:prstGeom>
        </p:spPr>
      </p:pic>
      <p:pic>
        <p:nvPicPr>
          <p:cNvPr id="10" name="Picture 9">
            <a:extLst>
              <a:ext uri="{FF2B5EF4-FFF2-40B4-BE49-F238E27FC236}">
                <a16:creationId xmlns:a16="http://schemas.microsoft.com/office/drawing/2014/main" id="{D0C699E4-B147-2A83-699E-D5AA12773D60}"/>
              </a:ext>
            </a:extLst>
          </p:cNvPr>
          <p:cNvPicPr>
            <a:picLocks noChangeAspect="1"/>
          </p:cNvPicPr>
          <p:nvPr/>
        </p:nvPicPr>
        <p:blipFill>
          <a:blip r:embed="rId4"/>
          <a:stretch>
            <a:fillRect/>
          </a:stretch>
        </p:blipFill>
        <p:spPr>
          <a:xfrm>
            <a:off x="6057901" y="1669142"/>
            <a:ext cx="5905001" cy="3949159"/>
          </a:xfrm>
          <a:prstGeom prst="rect">
            <a:avLst/>
          </a:prstGeom>
        </p:spPr>
      </p:pic>
    </p:spTree>
    <p:extLst>
      <p:ext uri="{BB962C8B-B14F-4D97-AF65-F5344CB8AC3E}">
        <p14:creationId xmlns:p14="http://schemas.microsoft.com/office/powerpoint/2010/main" val="394299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DETAILS</a:t>
            </a:r>
          </a:p>
        </p:txBody>
      </p:sp>
      <p:sp>
        <p:nvSpPr>
          <p:cNvPr id="3" name="Text Placeholder 2"/>
          <p:cNvSpPr>
            <a:spLocks noGrp="1"/>
          </p:cNvSpPr>
          <p:nvPr>
            <p:ph type="body" idx="1"/>
          </p:nvPr>
        </p:nvSpPr>
        <p:spPr/>
        <p:txBody>
          <a:bodyPr>
            <a:noAutofit/>
          </a:bodyPr>
          <a:lstStyle/>
          <a:p>
            <a:r>
              <a:rPr lang="en-US" sz="2200" b="1" dirty="0">
                <a:latin typeface="Times New Roman" panose="02020603050405020304" pitchFamily="18" charset="0"/>
                <a:cs typeface="Times New Roman" panose="02020603050405020304" pitchFamily="18" charset="0"/>
              </a:rPr>
              <a:t>Algorithm Used: Decision Flow-Based Emergency Assistance Model</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Step 1: User submits a question through the </a:t>
            </a:r>
            <a:r>
              <a:rPr lang="en-US" sz="2200" dirty="0" err="1">
                <a:latin typeface="Times New Roman" panose="02020603050405020304" pitchFamily="18" charset="0"/>
                <a:cs typeface="Times New Roman" panose="02020603050405020304" pitchFamily="18" charset="0"/>
              </a:rPr>
              <a:t>SafeLearn</a:t>
            </a:r>
            <a:r>
              <a:rPr lang="en-US" sz="2200" dirty="0">
                <a:latin typeface="Times New Roman" panose="02020603050405020304" pitchFamily="18" charset="0"/>
                <a:cs typeface="Times New Roman" panose="02020603050405020304" pitchFamily="18" charset="0"/>
              </a:rPr>
              <a:t> chatbot. </a:t>
            </a:r>
          </a:p>
          <a:p>
            <a:r>
              <a:rPr lang="en-US" sz="2200" dirty="0">
                <a:latin typeface="Times New Roman" panose="02020603050405020304" pitchFamily="18" charset="0"/>
                <a:cs typeface="Times New Roman" panose="02020603050405020304" pitchFamily="18" charset="0"/>
              </a:rPr>
              <a:t>Step 2: The system detects disaster-related keywords from the query. </a:t>
            </a:r>
          </a:p>
          <a:p>
            <a:r>
              <a:rPr lang="en-US" sz="2200" dirty="0">
                <a:latin typeface="Times New Roman" panose="02020603050405020304" pitchFamily="18" charset="0"/>
                <a:cs typeface="Times New Roman" panose="02020603050405020304" pitchFamily="18" charset="0"/>
              </a:rPr>
              <a:t>Step 3: Query is classified into categories such as Fire, Flood, Earthquake, First Aid, or General Safety. </a:t>
            </a:r>
          </a:p>
          <a:p>
            <a:r>
              <a:rPr lang="en-US" sz="2200" dirty="0">
                <a:latin typeface="Times New Roman" panose="02020603050405020304" pitchFamily="18" charset="0"/>
                <a:cs typeface="Times New Roman" panose="02020603050405020304" pitchFamily="18" charset="0"/>
              </a:rPr>
              <a:t>Step 4: The chatbot retrieves relevant emergency guidelines and preparedness steps. </a:t>
            </a:r>
          </a:p>
          <a:p>
            <a:r>
              <a:rPr lang="en-US" sz="2200" dirty="0">
                <a:latin typeface="Times New Roman" panose="02020603050405020304" pitchFamily="18" charset="0"/>
                <a:cs typeface="Times New Roman" panose="02020603050405020304" pitchFamily="18" charset="0"/>
              </a:rPr>
              <a:t>Step 5: Generative AI formats the response in clear and simple language. </a:t>
            </a:r>
          </a:p>
          <a:p>
            <a:r>
              <a:rPr lang="en-US" sz="2200" dirty="0">
                <a:latin typeface="Times New Roman" panose="02020603050405020304" pitchFamily="18" charset="0"/>
                <a:cs typeface="Times New Roman" panose="02020603050405020304" pitchFamily="18" charset="0"/>
              </a:rPr>
              <a:t>Step 6: Response is displayed instantly to the user through the platform. </a:t>
            </a:r>
          </a:p>
          <a:p>
            <a:r>
              <a:rPr lang="en-US" sz="2200" dirty="0">
                <a:latin typeface="Times New Roman" panose="02020603050405020304" pitchFamily="18" charset="0"/>
                <a:cs typeface="Times New Roman" panose="02020603050405020304" pitchFamily="18" charset="0"/>
              </a:rPr>
              <a:t>Step 7: If the query is unclear, the chatbot asks for more details. </a:t>
            </a:r>
          </a:p>
          <a:p>
            <a:r>
              <a:rPr lang="en-US" sz="2200" dirty="0">
                <a:latin typeface="Times New Roman" panose="02020603050405020304" pitchFamily="18" charset="0"/>
                <a:cs typeface="Times New Roman" panose="02020603050405020304" pitchFamily="18" charset="0"/>
              </a:rPr>
              <a:t>Step 8: User receives quick and helpful guidance in less than 3 seconds. </a:t>
            </a:r>
          </a:p>
          <a:p>
            <a:pPr marL="76200" indent="0">
              <a:buNone/>
            </a:pP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545000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Pseudo-code</a:t>
            </a:r>
          </a:p>
        </p:txBody>
      </p:sp>
      <p:sp>
        <p:nvSpPr>
          <p:cNvPr id="3" name="Text Placeholder 2"/>
          <p:cNvSpPr>
            <a:spLocks noGrp="1"/>
          </p:cNvSpPr>
          <p:nvPr>
            <p:ph type="body" idx="1"/>
          </p:nvPr>
        </p:nvSpPr>
        <p:spPr>
          <a:xfrm>
            <a:off x="812800" y="889000"/>
            <a:ext cx="10668000" cy="5207001"/>
          </a:xfrm>
        </p:spPr>
        <p:txBody>
          <a:bodyPr/>
          <a:lstStyle/>
          <a:p>
            <a:pPr marL="76200" indent="0">
              <a:buNone/>
            </a:pPr>
            <a:endParaRPr lang="en-US" dirty="0"/>
          </a:p>
          <a:p>
            <a:pPr marL="76200" indent="0">
              <a:buNone/>
            </a:pPr>
            <a:endParaRPr lang="en-US" dirty="0"/>
          </a:p>
        </p:txBody>
      </p:sp>
      <p:pic>
        <p:nvPicPr>
          <p:cNvPr id="6" name="Picture 5">
            <a:extLst>
              <a:ext uri="{FF2B5EF4-FFF2-40B4-BE49-F238E27FC236}">
                <a16:creationId xmlns:a16="http://schemas.microsoft.com/office/drawing/2014/main" id="{90772A39-43D8-0992-90CF-C67AA1AFE0F6}"/>
              </a:ext>
            </a:extLst>
          </p:cNvPr>
          <p:cNvPicPr>
            <a:picLocks noChangeAspect="1"/>
          </p:cNvPicPr>
          <p:nvPr/>
        </p:nvPicPr>
        <p:blipFill>
          <a:blip r:embed="rId2"/>
          <a:stretch>
            <a:fillRect/>
          </a:stretch>
        </p:blipFill>
        <p:spPr>
          <a:xfrm>
            <a:off x="812800" y="1100200"/>
            <a:ext cx="10668000" cy="4868800"/>
          </a:xfrm>
          <a:prstGeom prst="rect">
            <a:avLst/>
          </a:prstGeom>
        </p:spPr>
      </p:pic>
    </p:spTree>
    <p:extLst>
      <p:ext uri="{BB962C8B-B14F-4D97-AF65-F5344CB8AC3E}">
        <p14:creationId xmlns:p14="http://schemas.microsoft.com/office/powerpoint/2010/main" val="2664519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B0914-B231-B0E8-B4E5-83FFB48477EE}"/>
              </a:ext>
            </a:extLst>
          </p:cNvPr>
          <p:cNvSpPr>
            <a:spLocks noGrp="1"/>
          </p:cNvSpPr>
          <p:nvPr>
            <p:ph type="title"/>
          </p:nvPr>
        </p:nvSpPr>
        <p:spPr/>
        <p:txBody>
          <a:bodyPr/>
          <a:lstStyle/>
          <a:p>
            <a:r>
              <a:rPr lang="en-US" dirty="0"/>
              <a:t>Pseudo-code</a:t>
            </a:r>
            <a:endParaRPr lang="en-IN" dirty="0"/>
          </a:p>
        </p:txBody>
      </p:sp>
      <p:sp>
        <p:nvSpPr>
          <p:cNvPr id="3" name="Text Placeholder 2">
            <a:extLst>
              <a:ext uri="{FF2B5EF4-FFF2-40B4-BE49-F238E27FC236}">
                <a16:creationId xmlns:a16="http://schemas.microsoft.com/office/drawing/2014/main" id="{D51C6E73-CC38-AE24-3D75-026BAD64C87A}"/>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9628D579-136A-5FEC-B0DF-DD79D6F18970}"/>
              </a:ext>
            </a:extLst>
          </p:cNvPr>
          <p:cNvPicPr>
            <a:picLocks noChangeAspect="1"/>
          </p:cNvPicPr>
          <p:nvPr/>
        </p:nvPicPr>
        <p:blipFill>
          <a:blip r:embed="rId2"/>
          <a:stretch>
            <a:fillRect/>
          </a:stretch>
        </p:blipFill>
        <p:spPr>
          <a:xfrm>
            <a:off x="746760" y="1129312"/>
            <a:ext cx="10800080" cy="4980377"/>
          </a:xfrm>
          <a:prstGeom prst="rect">
            <a:avLst/>
          </a:prstGeom>
        </p:spPr>
      </p:pic>
    </p:spTree>
    <p:extLst>
      <p:ext uri="{BB962C8B-B14F-4D97-AF65-F5344CB8AC3E}">
        <p14:creationId xmlns:p14="http://schemas.microsoft.com/office/powerpoint/2010/main" val="1015274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 code details</a:t>
            </a:r>
          </a:p>
        </p:txBody>
      </p:sp>
      <p:sp>
        <p:nvSpPr>
          <p:cNvPr id="3" name="Text Placeholder 2"/>
          <p:cNvSpPr>
            <a:spLocks noGrp="1"/>
          </p:cNvSpPr>
          <p:nvPr>
            <p:ph type="body" idx="1"/>
          </p:nvPr>
        </p:nvSpPr>
        <p:spPr/>
        <p:txBody>
          <a:bodyPr/>
          <a:lstStyle/>
          <a:p>
            <a:pPr marL="76200" indent="0">
              <a:buNone/>
            </a:pPr>
            <a:endParaRPr lang="en-US" dirty="0"/>
          </a:p>
        </p:txBody>
      </p:sp>
      <p:pic>
        <p:nvPicPr>
          <p:cNvPr id="6" name="Picture 5">
            <a:extLst>
              <a:ext uri="{FF2B5EF4-FFF2-40B4-BE49-F238E27FC236}">
                <a16:creationId xmlns:a16="http://schemas.microsoft.com/office/drawing/2014/main" id="{94E8D8DD-7155-22A6-1D85-2EBC32987AE2}"/>
              </a:ext>
            </a:extLst>
          </p:cNvPr>
          <p:cNvPicPr>
            <a:picLocks noChangeAspect="1"/>
          </p:cNvPicPr>
          <p:nvPr/>
        </p:nvPicPr>
        <p:blipFill>
          <a:blip r:embed="rId2"/>
          <a:stretch>
            <a:fillRect/>
          </a:stretch>
        </p:blipFill>
        <p:spPr>
          <a:xfrm>
            <a:off x="812800" y="1143001"/>
            <a:ext cx="10773587" cy="4980041"/>
          </a:xfrm>
          <a:prstGeom prst="rect">
            <a:avLst/>
          </a:prstGeom>
        </p:spPr>
      </p:pic>
    </p:spTree>
    <p:extLst>
      <p:ext uri="{BB962C8B-B14F-4D97-AF65-F5344CB8AC3E}">
        <p14:creationId xmlns:p14="http://schemas.microsoft.com/office/powerpoint/2010/main" val="2482496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Modules</a:t>
            </a:r>
          </a:p>
        </p:txBody>
      </p:sp>
      <p:graphicFrame>
        <p:nvGraphicFramePr>
          <p:cNvPr id="6" name="Table 5">
            <a:extLst>
              <a:ext uri="{FF2B5EF4-FFF2-40B4-BE49-F238E27FC236}">
                <a16:creationId xmlns:a16="http://schemas.microsoft.com/office/drawing/2014/main" id="{3D1400B4-CE58-8E52-A63B-07B864533EB7}"/>
              </a:ext>
            </a:extLst>
          </p:cNvPr>
          <p:cNvGraphicFramePr>
            <a:graphicFrameLocks noGrp="1"/>
          </p:cNvGraphicFramePr>
          <p:nvPr>
            <p:extLst>
              <p:ext uri="{D42A27DB-BD31-4B8C-83A1-F6EECF244321}">
                <p14:modId xmlns:p14="http://schemas.microsoft.com/office/powerpoint/2010/main" val="3257794222"/>
              </p:ext>
            </p:extLst>
          </p:nvPr>
        </p:nvGraphicFramePr>
        <p:xfrm>
          <a:off x="812799" y="1083460"/>
          <a:ext cx="11007166" cy="4792906"/>
        </p:xfrm>
        <a:graphic>
          <a:graphicData uri="http://schemas.openxmlformats.org/drawingml/2006/table">
            <a:tbl>
              <a:tblPr firstRow="1" bandRow="1"/>
              <a:tblGrid>
                <a:gridCol w="3764852">
                  <a:extLst>
                    <a:ext uri="{9D8B030D-6E8A-4147-A177-3AD203B41FA5}">
                      <a16:colId xmlns:a16="http://schemas.microsoft.com/office/drawing/2014/main" val="1872565446"/>
                    </a:ext>
                  </a:extLst>
                </a:gridCol>
                <a:gridCol w="7242314">
                  <a:extLst>
                    <a:ext uri="{9D8B030D-6E8A-4147-A177-3AD203B41FA5}">
                      <a16:colId xmlns:a16="http://schemas.microsoft.com/office/drawing/2014/main" val="2337367072"/>
                    </a:ext>
                  </a:extLst>
                </a:gridCol>
              </a:tblGrid>
              <a:tr h="616089">
                <a:tc>
                  <a:txBody>
                    <a:bodyPr/>
                    <a:lstStyle/>
                    <a:p>
                      <a:pPr>
                        <a:buNone/>
                      </a:pPr>
                      <a:r>
                        <a:rPr lang="en-IN" b="1" dirty="0"/>
                        <a:t>Module</a:t>
                      </a:r>
                    </a:p>
                  </a:txBody>
                  <a:tcPr anchor="ctr"/>
                </a:tc>
                <a:tc>
                  <a:txBody>
                    <a:bodyPr/>
                    <a:lstStyle/>
                    <a:p>
                      <a:r>
                        <a:rPr lang="en-IN" b="1" dirty="0"/>
                        <a:t>Functionality</a:t>
                      </a:r>
                    </a:p>
                  </a:txBody>
                  <a:tcPr/>
                </a:tc>
                <a:extLst>
                  <a:ext uri="{0D108BD9-81ED-4DB2-BD59-A6C34878D82A}">
                    <a16:rowId xmlns:a16="http://schemas.microsoft.com/office/drawing/2014/main" val="1239213420"/>
                  </a:ext>
                </a:extLst>
              </a:tr>
              <a:tr h="717231">
                <a:tc>
                  <a:txBody>
                    <a:bodyPr/>
                    <a:lstStyle/>
                    <a:p>
                      <a:r>
                        <a:rPr lang="en-IN" dirty="0"/>
                        <a:t>User Module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User registration, secure login, profile access, and chatbot query input.</a:t>
                      </a:r>
                    </a:p>
                  </a:txBody>
                  <a:tcPr/>
                </a:tc>
                <a:extLst>
                  <a:ext uri="{0D108BD9-81ED-4DB2-BD59-A6C34878D82A}">
                    <a16:rowId xmlns:a16="http://schemas.microsoft.com/office/drawing/2014/main" val="1273344850"/>
                  </a:ext>
                </a:extLst>
              </a:tr>
              <a:tr h="717231">
                <a:tc>
                  <a:txBody>
                    <a:bodyPr/>
                    <a:lstStyle/>
                    <a:p>
                      <a:r>
                        <a:rPr lang="en-IN" dirty="0"/>
                        <a:t>Frontend Module (Next.js + React)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Provides responsive UI, smooth navigation, disaster awareness pages, chatbot interface, and mobile-friendly design.</a:t>
                      </a:r>
                    </a:p>
                  </a:txBody>
                  <a:tcPr/>
                </a:tc>
                <a:extLst>
                  <a:ext uri="{0D108BD9-81ED-4DB2-BD59-A6C34878D82A}">
                    <a16:rowId xmlns:a16="http://schemas.microsoft.com/office/drawing/2014/main" val="2215335299"/>
                  </a:ext>
                </a:extLst>
              </a:tr>
              <a:tr h="1012562">
                <a:tc>
                  <a:txBody>
                    <a:bodyPr/>
                    <a:lstStyle/>
                    <a:p>
                      <a:r>
                        <a:rPr lang="en-IN" dirty="0"/>
                        <a:t>Backend Module (Firebase + API Integration)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Manages authentication, request handling, cloud connectivity and secure communication between frontend, chatbot, and database.</a:t>
                      </a:r>
                    </a:p>
                  </a:txBody>
                  <a:tcPr/>
                </a:tc>
                <a:extLst>
                  <a:ext uri="{0D108BD9-81ED-4DB2-BD59-A6C34878D82A}">
                    <a16:rowId xmlns:a16="http://schemas.microsoft.com/office/drawing/2014/main" val="1662293939"/>
                  </a:ext>
                </a:extLst>
              </a:tr>
              <a:tr h="1012562">
                <a:tc>
                  <a:txBody>
                    <a:bodyPr/>
                    <a:lstStyle/>
                    <a:p>
                      <a:r>
                        <a:rPr lang="en-IN" dirty="0"/>
                        <a:t>AI Chatbot Module (GenAI)</a:t>
                      </a:r>
                    </a:p>
                  </a:txBody>
                  <a:tcPr/>
                </a:tc>
                <a:tc>
                  <a:txBody>
                    <a:bodyPr/>
                    <a:lstStyle/>
                    <a:p>
                      <a:r>
                        <a:rPr lang="en-US" dirty="0"/>
                        <a:t>Processes user queries, understands disaster-based questions, and provides real-time emergency guidance for fire, flood, earthquake, first aid etc.</a:t>
                      </a:r>
                      <a:endParaRPr lang="en-IN" dirty="0"/>
                    </a:p>
                  </a:txBody>
                  <a:tcPr/>
                </a:tc>
                <a:extLst>
                  <a:ext uri="{0D108BD9-81ED-4DB2-BD59-A6C34878D82A}">
                    <a16:rowId xmlns:a16="http://schemas.microsoft.com/office/drawing/2014/main" val="3344446821"/>
                  </a:ext>
                </a:extLst>
              </a:tr>
              <a:tr h="717231">
                <a:tc>
                  <a:txBody>
                    <a:bodyPr/>
                    <a:lstStyle/>
                    <a:p>
                      <a:r>
                        <a:rPr lang="en-IN" dirty="0"/>
                        <a:t>Database Module (</a:t>
                      </a:r>
                      <a:r>
                        <a:rPr lang="en-IN" dirty="0" err="1"/>
                        <a:t>Firestore</a:t>
                      </a:r>
                      <a:r>
                        <a:rPr lang="en-IN" dirty="0"/>
                        <a:t>)</a:t>
                      </a:r>
                    </a:p>
                  </a:txBody>
                  <a:tcPr/>
                </a:tc>
                <a:tc>
                  <a:txBody>
                    <a:bodyPr/>
                    <a:lstStyle/>
                    <a:p>
                      <a:r>
                        <a:rPr lang="en-US" dirty="0"/>
                        <a:t>Stores user details, chatbot history, disaster resources, and platform data with real-time cloud synchronization.</a:t>
                      </a:r>
                    </a:p>
                  </a:txBody>
                  <a:tcPr/>
                </a:tc>
                <a:extLst>
                  <a:ext uri="{0D108BD9-81ED-4DB2-BD59-A6C34878D82A}">
                    <a16:rowId xmlns:a16="http://schemas.microsoft.com/office/drawing/2014/main" val="137089879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implementation</a:t>
            </a:r>
          </a:p>
        </p:txBody>
      </p:sp>
      <p:sp>
        <p:nvSpPr>
          <p:cNvPr id="3" name="Text Placeholder 2"/>
          <p:cNvSpPr>
            <a:spLocks noGrp="1"/>
          </p:cNvSpPr>
          <p:nvPr>
            <p:ph type="body" idx="1"/>
          </p:nvPr>
        </p:nvSpPr>
        <p:spPr>
          <a:xfrm>
            <a:off x="609600" y="977900"/>
            <a:ext cx="5384700" cy="5148403"/>
          </a:xfrm>
        </p:spPr>
        <p:txBody>
          <a:bodyPr/>
          <a:lstStyle/>
          <a:p>
            <a:pPr marL="50800" indent="0">
              <a:buNone/>
            </a:pPr>
            <a:endParaRPr lang="en-US" dirty="0"/>
          </a:p>
          <a:p>
            <a:pPr marL="50800" indent="0">
              <a:buNone/>
            </a:pPr>
            <a:endParaRPr lang="en-US" dirty="0"/>
          </a:p>
        </p:txBody>
      </p:sp>
      <p:sp>
        <p:nvSpPr>
          <p:cNvPr id="4" name="Text Placeholder 3"/>
          <p:cNvSpPr>
            <a:spLocks noGrp="1"/>
          </p:cNvSpPr>
          <p:nvPr>
            <p:ph type="body" idx="2"/>
          </p:nvPr>
        </p:nvSpPr>
        <p:spPr>
          <a:xfrm>
            <a:off x="6197600" y="977900"/>
            <a:ext cx="5384700" cy="5148403"/>
          </a:xfrm>
        </p:spPr>
        <p:txBody>
          <a:bodyPr/>
          <a:lstStyle/>
          <a:p>
            <a:pPr marL="50800" indent="0">
              <a:buNone/>
            </a:pPr>
            <a:endParaRPr lang="en-US" dirty="0"/>
          </a:p>
          <a:p>
            <a:pPr marL="50800" indent="0">
              <a:buNone/>
            </a:pPr>
            <a:endParaRPr lang="en-US" dirty="0"/>
          </a:p>
        </p:txBody>
      </p:sp>
      <p:pic>
        <p:nvPicPr>
          <p:cNvPr id="6" name="Picture 5">
            <a:extLst>
              <a:ext uri="{FF2B5EF4-FFF2-40B4-BE49-F238E27FC236}">
                <a16:creationId xmlns:a16="http://schemas.microsoft.com/office/drawing/2014/main" id="{7F9CBFBE-A03E-68BC-CA6C-E6FFBA3C8DBD}"/>
              </a:ext>
            </a:extLst>
          </p:cNvPr>
          <p:cNvPicPr>
            <a:picLocks noChangeAspect="1"/>
          </p:cNvPicPr>
          <p:nvPr/>
        </p:nvPicPr>
        <p:blipFill>
          <a:blip r:embed="rId2"/>
          <a:stretch>
            <a:fillRect/>
          </a:stretch>
        </p:blipFill>
        <p:spPr>
          <a:xfrm>
            <a:off x="507900" y="1696720"/>
            <a:ext cx="5202020" cy="4094480"/>
          </a:xfrm>
          <a:prstGeom prst="rect">
            <a:avLst/>
          </a:prstGeom>
        </p:spPr>
      </p:pic>
      <p:pic>
        <p:nvPicPr>
          <p:cNvPr id="10" name="Picture 9">
            <a:extLst>
              <a:ext uri="{FF2B5EF4-FFF2-40B4-BE49-F238E27FC236}">
                <a16:creationId xmlns:a16="http://schemas.microsoft.com/office/drawing/2014/main" id="{0BC45312-209C-E217-B474-67AC4E0B3176}"/>
              </a:ext>
            </a:extLst>
          </p:cNvPr>
          <p:cNvPicPr>
            <a:picLocks noChangeAspect="1"/>
          </p:cNvPicPr>
          <p:nvPr/>
        </p:nvPicPr>
        <p:blipFill>
          <a:blip r:embed="rId3"/>
          <a:stretch>
            <a:fillRect/>
          </a:stretch>
        </p:blipFill>
        <p:spPr>
          <a:xfrm>
            <a:off x="6096000" y="1574800"/>
            <a:ext cx="5689600" cy="4145280"/>
          </a:xfrm>
          <a:prstGeom prst="rect">
            <a:avLst/>
          </a:prstGeom>
        </p:spPr>
      </p:pic>
    </p:spTree>
    <p:extLst>
      <p:ext uri="{BB962C8B-B14F-4D97-AF65-F5344CB8AC3E}">
        <p14:creationId xmlns:p14="http://schemas.microsoft.com/office/powerpoint/2010/main" val="1967678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402B-2C21-6996-92C6-C5BF6A74146B}"/>
              </a:ext>
            </a:extLst>
          </p:cNvPr>
          <p:cNvSpPr>
            <a:spLocks noGrp="1"/>
          </p:cNvSpPr>
          <p:nvPr>
            <p:ph type="title"/>
          </p:nvPr>
        </p:nvSpPr>
        <p:spPr/>
        <p:txBody>
          <a:bodyPr/>
          <a:lstStyle/>
          <a:p>
            <a:r>
              <a:rPr lang="en-IN" dirty="0"/>
              <a:t>Existing Methods and Drawbacks</a:t>
            </a:r>
          </a:p>
        </p:txBody>
      </p:sp>
      <p:sp>
        <p:nvSpPr>
          <p:cNvPr id="3" name="Text Placeholder 2">
            <a:extLst>
              <a:ext uri="{FF2B5EF4-FFF2-40B4-BE49-F238E27FC236}">
                <a16:creationId xmlns:a16="http://schemas.microsoft.com/office/drawing/2014/main" id="{0EA5946F-2FB2-CD99-AE8A-DDF587E6BA5D}"/>
              </a:ext>
            </a:extLst>
          </p:cNvPr>
          <p:cNvSpPr>
            <a:spLocks noGrp="1"/>
          </p:cNvSpPr>
          <p:nvPr>
            <p:ph type="body" idx="1"/>
          </p:nvPr>
        </p:nvSpPr>
        <p:spPr/>
        <p:txBody>
          <a:bodyPr/>
          <a:lstStyle/>
          <a:p>
            <a:pPr marL="76200" indent="0">
              <a:buNone/>
            </a:pPr>
            <a:r>
              <a:rPr lang="en-IN" dirty="0"/>
              <a:t> </a:t>
            </a:r>
          </a:p>
        </p:txBody>
      </p:sp>
      <p:graphicFrame>
        <p:nvGraphicFramePr>
          <p:cNvPr id="4" name="Table 3">
            <a:extLst>
              <a:ext uri="{FF2B5EF4-FFF2-40B4-BE49-F238E27FC236}">
                <a16:creationId xmlns:a16="http://schemas.microsoft.com/office/drawing/2014/main" id="{CF7AD194-3ECE-DF41-56DC-961299A6B177}"/>
              </a:ext>
            </a:extLst>
          </p:cNvPr>
          <p:cNvGraphicFramePr>
            <a:graphicFrameLocks noGrp="1"/>
          </p:cNvGraphicFramePr>
          <p:nvPr>
            <p:extLst>
              <p:ext uri="{D42A27DB-BD31-4B8C-83A1-F6EECF244321}">
                <p14:modId xmlns:p14="http://schemas.microsoft.com/office/powerpoint/2010/main" val="2913710263"/>
              </p:ext>
            </p:extLst>
          </p:nvPr>
        </p:nvGraphicFramePr>
        <p:xfrm>
          <a:off x="963562" y="1046890"/>
          <a:ext cx="10366476" cy="4795850"/>
        </p:xfrm>
        <a:graphic>
          <a:graphicData uri="http://schemas.openxmlformats.org/drawingml/2006/table">
            <a:tbl>
              <a:tblPr firstRow="1" bandRow="1"/>
              <a:tblGrid>
                <a:gridCol w="3455492">
                  <a:extLst>
                    <a:ext uri="{9D8B030D-6E8A-4147-A177-3AD203B41FA5}">
                      <a16:colId xmlns:a16="http://schemas.microsoft.com/office/drawing/2014/main" val="1175572355"/>
                    </a:ext>
                  </a:extLst>
                </a:gridCol>
                <a:gridCol w="3455492">
                  <a:extLst>
                    <a:ext uri="{9D8B030D-6E8A-4147-A177-3AD203B41FA5}">
                      <a16:colId xmlns:a16="http://schemas.microsoft.com/office/drawing/2014/main" val="986212114"/>
                    </a:ext>
                  </a:extLst>
                </a:gridCol>
                <a:gridCol w="3455492">
                  <a:extLst>
                    <a:ext uri="{9D8B030D-6E8A-4147-A177-3AD203B41FA5}">
                      <a16:colId xmlns:a16="http://schemas.microsoft.com/office/drawing/2014/main" val="2016801666"/>
                    </a:ext>
                  </a:extLst>
                </a:gridCol>
              </a:tblGrid>
              <a:tr h="770194">
                <a:tc>
                  <a:txBody>
                    <a:bodyPr/>
                    <a:lstStyle/>
                    <a:p>
                      <a:pPr>
                        <a:buNone/>
                      </a:pPr>
                      <a:r>
                        <a:rPr lang="en-IN" sz="1400" b="1">
                          <a:latin typeface="Cambria" panose="02040503050406030204" pitchFamily="18" charset="0"/>
                          <a:ea typeface="Cambria" panose="02040503050406030204" pitchFamily="18" charset="0"/>
                        </a:rPr>
                        <a:t>Existing Technology / Approach</a:t>
                      </a:r>
                      <a:endParaRPr lang="en-IN" sz="1400">
                        <a:latin typeface="Cambria" panose="02040503050406030204" pitchFamily="18" charset="0"/>
                        <a:ea typeface="Cambria" panose="02040503050406030204" pitchFamily="18" charset="0"/>
                      </a:endParaRPr>
                    </a:p>
                  </a:txBody>
                  <a:tcPr anchor="ctr"/>
                </a:tc>
                <a:tc>
                  <a:txBody>
                    <a:bodyPr/>
                    <a:lstStyle/>
                    <a:p>
                      <a:pPr>
                        <a:buNone/>
                      </a:pPr>
                      <a:r>
                        <a:rPr lang="en-IN" sz="1400" b="1">
                          <a:latin typeface="Cambria" panose="02040503050406030204" pitchFamily="18" charset="0"/>
                          <a:ea typeface="Cambria" panose="02040503050406030204" pitchFamily="18" charset="0"/>
                        </a:rPr>
                        <a:t>Advantages (✔)</a:t>
                      </a:r>
                      <a:endParaRPr lang="en-IN" sz="1400">
                        <a:latin typeface="Cambria" panose="02040503050406030204" pitchFamily="18" charset="0"/>
                        <a:ea typeface="Cambria" panose="02040503050406030204" pitchFamily="18" charset="0"/>
                      </a:endParaRPr>
                    </a:p>
                  </a:txBody>
                  <a:tcPr anchor="ctr"/>
                </a:tc>
                <a:tc>
                  <a:txBody>
                    <a:bodyPr/>
                    <a:lstStyle/>
                    <a:p>
                      <a:pPr>
                        <a:buNone/>
                      </a:pPr>
                      <a:r>
                        <a:rPr lang="en-IN" sz="1400" b="1">
                          <a:latin typeface="Cambria" panose="02040503050406030204" pitchFamily="18" charset="0"/>
                          <a:ea typeface="Cambria" panose="02040503050406030204" pitchFamily="18" charset="0"/>
                        </a:rPr>
                        <a:t>Limitations (✖)</a:t>
                      </a:r>
                      <a:endParaRPr lang="en-IN" sz="140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977210347"/>
                  </a:ext>
                </a:extLst>
              </a:tr>
              <a:tr h="770194">
                <a:tc>
                  <a:txBody>
                    <a:bodyPr/>
                    <a:lstStyle/>
                    <a:p>
                      <a:pPr>
                        <a:buNone/>
                      </a:pPr>
                      <a:r>
                        <a:rPr lang="en-US" dirty="0"/>
                        <a:t>General Information Websites (Wikipedia, Blogs, News Portals)</a:t>
                      </a:r>
                      <a:endParaRPr lang="en-US" sz="1400" dirty="0">
                        <a:latin typeface="Cambria" panose="02040503050406030204" pitchFamily="18" charset="0"/>
                        <a:ea typeface="Cambria" panose="02040503050406030204" pitchFamily="18" charset="0"/>
                      </a:endParaRPr>
                    </a:p>
                  </a:txBody>
                  <a:tcPr anchor="ctr"/>
                </a:tc>
                <a:tc>
                  <a:txBody>
                    <a:bodyPr/>
                    <a:lstStyle/>
                    <a:p>
                      <a:pPr>
                        <a:buNone/>
                      </a:pPr>
                      <a:r>
                        <a:rPr lang="en-US" dirty="0"/>
                        <a:t>✔ Easily accessible information ✔ Covers many disaster topics ✔ Free to use</a:t>
                      </a:r>
                      <a:endParaRPr lang="en-US" sz="1400" dirty="0">
                        <a:latin typeface="Cambria" panose="02040503050406030204" pitchFamily="18" charset="0"/>
                        <a:ea typeface="Cambria" panose="02040503050406030204" pitchFamily="18" charset="0"/>
                      </a:endParaRPr>
                    </a:p>
                  </a:txBody>
                  <a:tcPr anchor="ctr"/>
                </a:tc>
                <a:tc>
                  <a:txBody>
                    <a:bodyPr/>
                    <a:lstStyle/>
                    <a:p>
                      <a:pPr>
                        <a:buNone/>
                      </a:pPr>
                      <a:r>
                        <a:rPr lang="en-US" dirty="0"/>
                        <a:t>✘ Static information only ✘ No personalized emergency guidance ✘ Time-consuming during emergencies</a:t>
                      </a:r>
                      <a:endParaRPr lang="en-US" sz="1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464185426"/>
                  </a:ext>
                </a:extLst>
              </a:tr>
              <a:tr h="770194">
                <a:tc>
                  <a:txBody>
                    <a:bodyPr/>
                    <a:lstStyle/>
                    <a:p>
                      <a:pPr>
                        <a:buNone/>
                      </a:pPr>
                      <a:r>
                        <a:rPr lang="en-IN" dirty="0"/>
                        <a:t>Traditional Emergency Helpline Systems</a:t>
                      </a:r>
                      <a:endParaRPr lang="en-IN" sz="1400" dirty="0">
                        <a:latin typeface="Cambria" panose="02040503050406030204" pitchFamily="18" charset="0"/>
                        <a:ea typeface="Cambria" panose="02040503050406030204" pitchFamily="18" charset="0"/>
                      </a:endParaRPr>
                    </a:p>
                  </a:txBody>
                  <a:tcPr anchor="ctr"/>
                </a:tc>
                <a:tc>
                  <a:txBody>
                    <a:bodyPr/>
                    <a:lstStyle/>
                    <a:p>
                      <a:pPr>
                        <a:buNone/>
                      </a:pPr>
                      <a:r>
                        <a:rPr lang="en-US" dirty="0"/>
                        <a:t>✔ Direct connection to authorities ✔ Useful in critical situations ✔ Trusted official support</a:t>
                      </a:r>
                      <a:endParaRPr lang="en-US" sz="1400" dirty="0">
                        <a:latin typeface="Cambria" panose="02040503050406030204" pitchFamily="18" charset="0"/>
                        <a:ea typeface="Cambria" panose="02040503050406030204" pitchFamily="18" charset="0"/>
                      </a:endParaRPr>
                    </a:p>
                  </a:txBody>
                  <a:tcPr anchor="ctr"/>
                </a:tc>
                <a:tc>
                  <a:txBody>
                    <a:bodyPr/>
                    <a:lstStyle/>
                    <a:p>
                      <a:pPr>
                        <a:buNone/>
                      </a:pPr>
                      <a:r>
                        <a:rPr lang="en-US" dirty="0"/>
                        <a:t>✘ Busy lines during disasters ✘ Delayed response possible ✘ No awareness/preparedness education</a:t>
                      </a:r>
                      <a:endParaRPr lang="en-US" sz="1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221375660"/>
                  </a:ext>
                </a:extLst>
              </a:tr>
              <a:tr h="770194">
                <a:tc>
                  <a:txBody>
                    <a:bodyPr/>
                    <a:lstStyle/>
                    <a:p>
                      <a:pPr>
                        <a:buNone/>
                      </a:pPr>
                      <a:r>
                        <a:rPr lang="en-IN" dirty="0"/>
                        <a:t>Mobile Weather / Alert Apps</a:t>
                      </a:r>
                      <a:endParaRPr lang="en-IN" sz="1400" dirty="0">
                        <a:latin typeface="Cambria" panose="02040503050406030204" pitchFamily="18" charset="0"/>
                        <a:ea typeface="Cambria" panose="02040503050406030204" pitchFamily="18" charset="0"/>
                      </a:endParaRPr>
                    </a:p>
                  </a:txBody>
                  <a:tcPr anchor="ctr"/>
                </a:tc>
                <a:tc>
                  <a:txBody>
                    <a:bodyPr/>
                    <a:lstStyle/>
                    <a:p>
                      <a:pPr>
                        <a:buNone/>
                      </a:pPr>
                      <a:r>
                        <a:rPr lang="en-US" dirty="0"/>
                        <a:t>✔ Real-time weather alerts ✔ Location-based notifications ✔ Useful for storms/floods</a:t>
                      </a:r>
                      <a:endParaRPr lang="en-US" sz="1400" dirty="0">
                        <a:latin typeface="Cambria" panose="02040503050406030204" pitchFamily="18" charset="0"/>
                        <a:ea typeface="Cambria" panose="02040503050406030204" pitchFamily="18" charset="0"/>
                      </a:endParaRPr>
                    </a:p>
                  </a:txBody>
                  <a:tcPr anchor="ctr"/>
                </a:tc>
                <a:tc>
                  <a:txBody>
                    <a:bodyPr/>
                    <a:lstStyle/>
                    <a:p>
                      <a:pPr>
                        <a:buNone/>
                      </a:pPr>
                      <a:r>
                        <a:rPr lang="en-US" dirty="0"/>
                        <a:t>✘ Limited to specific disaster types ✘ No chatbot assistance ✘ Requires separate apps</a:t>
                      </a:r>
                      <a:endParaRPr lang="en-US" sz="1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547123231"/>
                  </a:ext>
                </a:extLst>
              </a:tr>
              <a:tr h="770194">
                <a:tc>
                  <a:txBody>
                    <a:bodyPr/>
                    <a:lstStyle/>
                    <a:p>
                      <a:pPr>
                        <a:buNone/>
                      </a:pPr>
                      <a:r>
                        <a:rPr lang="en-US" dirty="0"/>
                        <a:t>General-Purpose Chatbots (Siri, Alexa, Google Assistant, Gemini Chat)</a:t>
                      </a:r>
                      <a:endParaRPr lang="en-IN" sz="1400" dirty="0">
                        <a:latin typeface="Cambria" panose="02040503050406030204" pitchFamily="18" charset="0"/>
                        <a:ea typeface="Cambria" panose="02040503050406030204" pitchFamily="18" charset="0"/>
                      </a:endParaRPr>
                    </a:p>
                  </a:txBody>
                  <a:tcPr anchor="ctr"/>
                </a:tc>
                <a:tc>
                  <a:txBody>
                    <a:bodyPr/>
                    <a:lstStyle/>
                    <a:p>
                      <a:pPr>
                        <a:buNone/>
                      </a:pPr>
                      <a:r>
                        <a:rPr lang="en-US" dirty="0"/>
                        <a:t>✔ Understand natural language queries ✔ Fast responses ✔ Easy to use</a:t>
                      </a:r>
                      <a:endParaRPr lang="en-US" sz="1400" dirty="0">
                        <a:latin typeface="Cambria" panose="02040503050406030204" pitchFamily="18" charset="0"/>
                        <a:ea typeface="Cambria" panose="02040503050406030204" pitchFamily="18" charset="0"/>
                      </a:endParaRPr>
                    </a:p>
                  </a:txBody>
                  <a:tcPr anchor="ctr"/>
                </a:tc>
                <a:tc>
                  <a:txBody>
                    <a:bodyPr/>
                    <a:lstStyle/>
                    <a:p>
                      <a:pPr>
                        <a:buNone/>
                      </a:pPr>
                      <a:r>
                        <a:rPr lang="en-US" dirty="0"/>
                        <a:t>✘ Not specialized for disaster preparedness ✘ May provide generic answers ✘ Limited emergency-focused workflows</a:t>
                      </a:r>
                      <a:endParaRPr lang="en-IN" sz="1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4229715785"/>
                  </a:ext>
                </a:extLst>
              </a:tr>
              <a:tr h="770194">
                <a:tc>
                  <a:txBody>
                    <a:bodyPr/>
                    <a:lstStyle/>
                    <a:p>
                      <a:pPr>
                        <a:buNone/>
                      </a:pPr>
                      <a:r>
                        <a:rPr lang="en-US" dirty="0"/>
                        <a:t>Manual Awareness Programs / Printed Guides</a:t>
                      </a:r>
                      <a:endParaRPr lang="fr-FR" sz="1400" dirty="0">
                        <a:latin typeface="Cambria" panose="02040503050406030204" pitchFamily="18" charset="0"/>
                        <a:ea typeface="Cambria" panose="02040503050406030204" pitchFamily="18" charset="0"/>
                      </a:endParaRPr>
                    </a:p>
                  </a:txBody>
                  <a:tcPr anchor="ctr"/>
                </a:tc>
                <a:tc>
                  <a:txBody>
                    <a:bodyPr/>
                    <a:lstStyle/>
                    <a:p>
                      <a:pPr>
                        <a:buNone/>
                      </a:pPr>
                      <a:r>
                        <a:rPr lang="en-US" dirty="0"/>
                        <a:t>Manual Awareness Programs / Printed Guides</a:t>
                      </a:r>
                      <a:endParaRPr lang="en-US" sz="1400" dirty="0">
                        <a:latin typeface="Cambria" panose="02040503050406030204" pitchFamily="18" charset="0"/>
                        <a:ea typeface="Cambria" panose="02040503050406030204" pitchFamily="18" charset="0"/>
                      </a:endParaRPr>
                    </a:p>
                  </a:txBody>
                  <a:tcPr anchor="ctr"/>
                </a:tc>
                <a:tc>
                  <a:txBody>
                    <a:bodyPr/>
                    <a:lstStyle/>
                    <a:p>
                      <a:pPr>
                        <a:buNone/>
                      </a:pPr>
                      <a:r>
                        <a:rPr lang="en-US" dirty="0"/>
                        <a:t>✘ Not interactive ✘ Difficult to update quickly ✘ Limited accessibility during emergencies</a:t>
                      </a:r>
                      <a:endParaRPr lang="en-US" sz="14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4201543785"/>
                  </a:ext>
                </a:extLst>
              </a:tr>
            </a:tbl>
          </a:graphicData>
        </a:graphic>
      </p:graphicFrame>
    </p:spTree>
    <p:extLst>
      <p:ext uri="{BB962C8B-B14F-4D97-AF65-F5344CB8AC3E}">
        <p14:creationId xmlns:p14="http://schemas.microsoft.com/office/powerpoint/2010/main" val="1714982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Proposed Method &amp; Feasibility Study</a:t>
            </a:r>
          </a:p>
        </p:txBody>
      </p:sp>
      <p:sp>
        <p:nvSpPr>
          <p:cNvPr id="3" name="Text Placeholder 2"/>
          <p:cNvSpPr>
            <a:spLocks noGrp="1"/>
          </p:cNvSpPr>
          <p:nvPr>
            <p:ph type="body" idx="1"/>
          </p:nvPr>
        </p:nvSpPr>
        <p:spPr>
          <a:xfrm>
            <a:off x="762000" y="952500"/>
            <a:ext cx="10668000" cy="5387340"/>
          </a:xfrm>
        </p:spPr>
        <p:txBody>
          <a:bodyPr>
            <a:noAutofit/>
          </a:bodyPr>
          <a:lstStyle/>
          <a:p>
            <a:pPr marL="76200" indent="0">
              <a:buNone/>
            </a:pPr>
            <a:r>
              <a:rPr lang="en-US" sz="1800" b="1" dirty="0">
                <a:latin typeface="Cambria" panose="02040503050406030204" pitchFamily="18" charset="0"/>
                <a:ea typeface="Cambria" panose="02040503050406030204" pitchFamily="18" charset="0"/>
              </a:rPr>
              <a:t>Proposed Method</a:t>
            </a:r>
          </a:p>
          <a:p>
            <a:r>
              <a:rPr lang="en-US" sz="1800" dirty="0">
                <a:latin typeface="Times New Roman" panose="02020603050405020304" pitchFamily="18" charset="0"/>
                <a:cs typeface="Times New Roman" panose="02020603050405020304" pitchFamily="18" charset="0"/>
              </a:rPr>
              <a:t>The proposed system is a secure, scalable, and cloud-based AI-powered disaster preparedness web platform that enables users to access emergency guidance, disaster awareness resources, and interactive support through conversational natural language queries.</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Utilizes a </a:t>
            </a:r>
            <a:r>
              <a:rPr lang="en-US" sz="1800" b="1" dirty="0">
                <a:latin typeface="Times New Roman" panose="02020603050405020304" pitchFamily="18" charset="0"/>
                <a:cs typeface="Times New Roman" panose="02020603050405020304" pitchFamily="18" charset="0"/>
              </a:rPr>
              <a:t>Generative AI chatbot</a:t>
            </a:r>
            <a:r>
              <a:rPr lang="en-US" sz="1800" dirty="0">
                <a:latin typeface="Times New Roman" panose="02020603050405020304" pitchFamily="18" charset="0"/>
                <a:cs typeface="Times New Roman" panose="02020603050405020304" pitchFamily="18" charset="0"/>
              </a:rPr>
              <a:t> to provide real-time responses for disaster scenarios such as fire, flood, earthquake, first aid, and emergency preparedness without requiring users to manually search through multiple information sources.</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Uses </a:t>
            </a:r>
            <a:r>
              <a:rPr lang="en-IN" sz="1800" b="1" dirty="0">
                <a:latin typeface="Times New Roman" panose="02020603050405020304" pitchFamily="18" charset="0"/>
                <a:cs typeface="Times New Roman" panose="02020603050405020304" pitchFamily="18" charset="0"/>
              </a:rPr>
              <a:t>Next.js frontend</a:t>
            </a:r>
            <a:r>
              <a:rPr lang="en-IN" sz="1800" dirty="0">
                <a:latin typeface="Times New Roman" panose="02020603050405020304" pitchFamily="18" charset="0"/>
                <a:cs typeface="Times New Roman" panose="02020603050405020304" pitchFamily="18" charset="0"/>
              </a:rPr>
              <a:t> with responsive design, </a:t>
            </a:r>
            <a:r>
              <a:rPr lang="en-IN" sz="1800" b="1" dirty="0">
                <a:latin typeface="Times New Roman" panose="02020603050405020304" pitchFamily="18" charset="0"/>
                <a:cs typeface="Times New Roman" panose="02020603050405020304" pitchFamily="18" charset="0"/>
              </a:rPr>
              <a:t>Firebase Authentication</a:t>
            </a:r>
            <a:r>
              <a:rPr lang="en-IN" sz="1800" dirty="0">
                <a:latin typeface="Times New Roman" panose="02020603050405020304" pitchFamily="18" charset="0"/>
                <a:cs typeface="Times New Roman" panose="02020603050405020304" pitchFamily="18" charset="0"/>
              </a:rPr>
              <a:t> for secure user identity validation, </a:t>
            </a:r>
            <a:r>
              <a:rPr lang="en-IN" sz="1800" b="1" dirty="0" err="1">
                <a:latin typeface="Times New Roman" panose="02020603050405020304" pitchFamily="18" charset="0"/>
                <a:cs typeface="Times New Roman" panose="02020603050405020304" pitchFamily="18" charset="0"/>
              </a:rPr>
              <a:t>Firestore</a:t>
            </a:r>
            <a:r>
              <a:rPr lang="en-IN" sz="1800" b="1" dirty="0">
                <a:latin typeface="Times New Roman" panose="02020603050405020304" pitchFamily="18" charset="0"/>
                <a:cs typeface="Times New Roman" panose="02020603050405020304" pitchFamily="18" charset="0"/>
              </a:rPr>
              <a:t> Database</a:t>
            </a:r>
            <a:r>
              <a:rPr lang="en-IN" sz="1800" dirty="0">
                <a:latin typeface="Times New Roman" panose="02020603050405020304" pitchFamily="18" charset="0"/>
                <a:cs typeface="Times New Roman" panose="02020603050405020304" pitchFamily="18" charset="0"/>
              </a:rPr>
              <a:t> for cloud data storage, and </a:t>
            </a:r>
            <a:r>
              <a:rPr lang="en-IN" sz="1800" b="1" dirty="0" err="1">
                <a:latin typeface="Times New Roman" panose="02020603050405020304" pitchFamily="18" charset="0"/>
                <a:cs typeface="Times New Roman" panose="02020603050405020304" pitchFamily="18" charset="0"/>
              </a:rPr>
              <a:t>Vercel</a:t>
            </a:r>
            <a:r>
              <a:rPr lang="en-IN" sz="1800" b="1" dirty="0">
                <a:latin typeface="Times New Roman" panose="02020603050405020304" pitchFamily="18" charset="0"/>
                <a:cs typeface="Times New Roman" panose="02020603050405020304" pitchFamily="18" charset="0"/>
              </a:rPr>
              <a:t> deployment</a:t>
            </a:r>
            <a:r>
              <a:rPr lang="en-IN" sz="1800" dirty="0">
                <a:latin typeface="Times New Roman" panose="02020603050405020304" pitchFamily="18" charset="0"/>
                <a:cs typeface="Times New Roman" panose="02020603050405020304" pitchFamily="18" charset="0"/>
              </a:rPr>
              <a:t> for reliable global access with minimal latency.</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US" sz="1800" b="1" dirty="0">
                <a:latin typeface="Cambria" panose="02040503050406030204" pitchFamily="18" charset="0"/>
                <a:ea typeface="Cambria" panose="02040503050406030204" pitchFamily="18" charset="0"/>
              </a:rPr>
              <a:t>Feasibility Study</a:t>
            </a:r>
          </a:p>
          <a:p>
            <a:r>
              <a:rPr lang="en-US" sz="1800" b="1" dirty="0">
                <a:latin typeface="Times New Roman" panose="02020603050405020304" pitchFamily="18" charset="0"/>
                <a:cs typeface="Times New Roman" panose="02020603050405020304" pitchFamily="18" charset="0"/>
              </a:rPr>
              <a:t>Technical Feasibility:</a:t>
            </a:r>
            <a:r>
              <a:rPr lang="en-US" sz="1800" dirty="0">
                <a:latin typeface="Times New Roman" panose="02020603050405020304" pitchFamily="18" charset="0"/>
                <a:cs typeface="Times New Roman" panose="02020603050405020304" pitchFamily="18" charset="0"/>
              </a:rPr>
              <a:t> Fully implementable using modern and widely adopted technologies such as </a:t>
            </a:r>
            <a:r>
              <a:rPr lang="en-US" sz="1800" b="1" dirty="0">
                <a:latin typeface="Times New Roman" panose="02020603050405020304" pitchFamily="18" charset="0"/>
                <a:cs typeface="Times New Roman" panose="02020603050405020304" pitchFamily="18" charset="0"/>
              </a:rPr>
              <a:t>Next.js, React.js, Tailwind CSS, Firebase, </a:t>
            </a:r>
            <a:r>
              <a:rPr lang="en-US" sz="1800" b="1" dirty="0" err="1">
                <a:latin typeface="Times New Roman" panose="02020603050405020304" pitchFamily="18" charset="0"/>
                <a:cs typeface="Times New Roman" panose="02020603050405020304" pitchFamily="18" charset="0"/>
              </a:rPr>
              <a:t>Firestore</a:t>
            </a:r>
            <a:r>
              <a:rPr lang="en-US" sz="1800" b="1" dirty="0">
                <a:latin typeface="Times New Roman" panose="02020603050405020304" pitchFamily="18" charset="0"/>
                <a:cs typeface="Times New Roman" panose="02020603050405020304" pitchFamily="18" charset="0"/>
              </a:rPr>
              <a:t>, and Generative AI APIs</a:t>
            </a:r>
            <a:r>
              <a:rPr lang="en-US" sz="1800" dirty="0">
                <a:latin typeface="Times New Roman" panose="02020603050405020304" pitchFamily="18" charset="0"/>
                <a:cs typeface="Times New Roman" panose="02020603050405020304" pitchFamily="18" charset="0"/>
              </a:rPr>
              <a:t>; compatible with standard laptops, desktops, and mobile devices, making it suitable for broad public use.</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Operational Feasibility:</a:t>
            </a:r>
            <a:r>
              <a:rPr lang="en-US" sz="1800" dirty="0">
                <a:latin typeface="Times New Roman" panose="02020603050405020304" pitchFamily="18" charset="0"/>
                <a:cs typeface="Times New Roman" panose="02020603050405020304" pitchFamily="18" charset="0"/>
              </a:rPr>
              <a:t> Reduces time required to obtain emergency guidance, improves disaster awareness, and enables users to receive instant assistance during urgent situations, making it practical for students, families, institutions, and communities.</a:t>
            </a:r>
            <a:endParaRPr lang="en-US" sz="1800" dirty="0">
              <a:latin typeface="Cambria" panose="02040503050406030204" pitchFamily="18" charset="0"/>
              <a:ea typeface="Cambria" panose="02040503050406030204" pitchFamily="18" charset="0"/>
            </a:endParaRPr>
          </a:p>
          <a:p>
            <a:pPr marL="76200" indent="0">
              <a:buNone/>
            </a:pPr>
            <a:endParaRPr lang="en-IN" sz="1800" dirty="0">
              <a:latin typeface="Cambiria"/>
              <a:ea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Architecture Diagram</a:t>
            </a:r>
          </a:p>
        </p:txBody>
      </p:sp>
      <p:pic>
        <p:nvPicPr>
          <p:cNvPr id="5" name="Picture 4">
            <a:extLst>
              <a:ext uri="{FF2B5EF4-FFF2-40B4-BE49-F238E27FC236}">
                <a16:creationId xmlns:a16="http://schemas.microsoft.com/office/drawing/2014/main" id="{8E3E3598-979B-9E78-7A14-87830CE68B82}"/>
              </a:ext>
            </a:extLst>
          </p:cNvPr>
          <p:cNvPicPr>
            <a:picLocks noChangeAspect="1"/>
          </p:cNvPicPr>
          <p:nvPr/>
        </p:nvPicPr>
        <p:blipFill>
          <a:blip r:embed="rId2"/>
          <a:stretch>
            <a:fillRect/>
          </a:stretch>
        </p:blipFill>
        <p:spPr>
          <a:xfrm>
            <a:off x="2865120" y="995681"/>
            <a:ext cx="6065520" cy="51003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604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hlinkClick r:id="rId3"/>
              </a:rPr>
              <a:t>https://github.com/nithyahd/safelearn</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Timeline (Gantt Chart)</a:t>
            </a:r>
          </a:p>
        </p:txBody>
      </p:sp>
      <p:pic>
        <p:nvPicPr>
          <p:cNvPr id="5" name="Picture 4">
            <a:extLst>
              <a:ext uri="{FF2B5EF4-FFF2-40B4-BE49-F238E27FC236}">
                <a16:creationId xmlns:a16="http://schemas.microsoft.com/office/drawing/2014/main" id="{B1CF801D-9419-0D59-6A82-373F45565837}"/>
              </a:ext>
            </a:extLst>
          </p:cNvPr>
          <p:cNvPicPr>
            <a:picLocks noChangeAspect="1"/>
          </p:cNvPicPr>
          <p:nvPr/>
        </p:nvPicPr>
        <p:blipFill>
          <a:blip r:embed="rId2"/>
          <a:stretch>
            <a:fillRect/>
          </a:stretch>
        </p:blipFill>
        <p:spPr>
          <a:xfrm>
            <a:off x="1198880" y="1046878"/>
            <a:ext cx="10281920" cy="50084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58B2C-C6DA-3864-29C8-3235644693B2}"/>
              </a:ext>
            </a:extLst>
          </p:cNvPr>
          <p:cNvSpPr>
            <a:spLocks noGrp="1"/>
          </p:cNvSpPr>
          <p:nvPr>
            <p:ph type="title"/>
          </p:nvPr>
        </p:nvSpPr>
        <p:spPr/>
        <p:txBody>
          <a:bodyPr/>
          <a:lstStyle/>
          <a:p>
            <a:r>
              <a:rPr lang="en-IN" dirty="0"/>
              <a:t>References</a:t>
            </a:r>
          </a:p>
        </p:txBody>
      </p:sp>
      <p:sp>
        <p:nvSpPr>
          <p:cNvPr id="3" name="Text Placeholder 2">
            <a:extLst>
              <a:ext uri="{FF2B5EF4-FFF2-40B4-BE49-F238E27FC236}">
                <a16:creationId xmlns:a16="http://schemas.microsoft.com/office/drawing/2014/main" id="{4F8385CE-9F1F-E46A-91AC-40260975085C}"/>
              </a:ext>
            </a:extLst>
          </p:cNvPr>
          <p:cNvSpPr>
            <a:spLocks noGrp="1"/>
          </p:cNvSpPr>
          <p:nvPr>
            <p:ph type="body" idx="1"/>
          </p:nvPr>
        </p:nvSpPr>
        <p:spPr>
          <a:xfrm>
            <a:off x="762000" y="1310640"/>
            <a:ext cx="10668000" cy="4510058"/>
          </a:xfrm>
        </p:spPr>
        <p:txBody>
          <a:bodyPr>
            <a:noAutofit/>
          </a:bodyPr>
          <a:lstStyle/>
          <a:p>
            <a:r>
              <a:rPr lang="en-US" dirty="0">
                <a:latin typeface="Times New Roman" panose="02020603050405020304" pitchFamily="18" charset="0"/>
                <a:cs typeface="Times New Roman" panose="02020603050405020304" pitchFamily="18" charset="0"/>
              </a:rPr>
              <a:t>[1] World Health Organization (WHO), 2023. Emergency Preparedness, Response and Resilience Framework. World Health Organization.</a:t>
            </a:r>
          </a:p>
          <a:p>
            <a:r>
              <a:rPr lang="en-US" dirty="0">
                <a:latin typeface="Times New Roman" panose="02020603050405020304" pitchFamily="18" charset="0"/>
                <a:cs typeface="Times New Roman" panose="02020603050405020304" pitchFamily="18" charset="0"/>
              </a:rPr>
              <a:t>[2] United Nations Office for Disaster Risk Reduction (UNDRR), 2022. Global Assessment Report on Disaster Risk Reduction. United Nations.</a:t>
            </a:r>
          </a:p>
          <a:p>
            <a:r>
              <a:rPr lang="en-US" dirty="0">
                <a:latin typeface="Times New Roman" panose="02020603050405020304" pitchFamily="18" charset="0"/>
                <a:cs typeface="Times New Roman" panose="02020603050405020304" pitchFamily="18" charset="0"/>
              </a:rPr>
              <a:t>[3] International Federation of Red Cross and Red Crescent Societies (IFRC), 2021. Community-Based Disaster Risk Reduction Guidelines. IFRC Publications.</a:t>
            </a:r>
          </a:p>
          <a:p>
            <a:r>
              <a:rPr lang="en-US" dirty="0">
                <a:latin typeface="Times New Roman" panose="02020603050405020304" pitchFamily="18" charset="0"/>
                <a:cs typeface="Times New Roman" panose="02020603050405020304" pitchFamily="18" charset="0"/>
              </a:rPr>
              <a:t>[4] National Disaster Management Authority (NDMA), Government of India, 2023. Guidelines on Disaster Management and Preparedness. New Delhi, India.</a:t>
            </a:r>
          </a:p>
          <a:p>
            <a:r>
              <a:rPr lang="en-US" dirty="0">
                <a:latin typeface="Times New Roman" panose="02020603050405020304" pitchFamily="18" charset="0"/>
                <a:cs typeface="Times New Roman" panose="02020603050405020304" pitchFamily="18" charset="0"/>
              </a:rPr>
              <a:t>[5] Ministry of Home Affairs, Government of India, 2022. National Disaster Management Plan. Government of India.</a:t>
            </a:r>
          </a:p>
          <a:p>
            <a:pPr marL="76200" indent="0">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96821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References</a:t>
            </a:r>
          </a:p>
        </p:txBody>
      </p:sp>
      <p:sp>
        <p:nvSpPr>
          <p:cNvPr id="3" name="Text Placeholder 2"/>
          <p:cNvSpPr>
            <a:spLocks noGrp="1"/>
          </p:cNvSpPr>
          <p:nvPr>
            <p:ph type="body" idx="1"/>
          </p:nvPr>
        </p:nvSpPr>
        <p:spPr>
          <a:xfrm>
            <a:off x="762000" y="1026159"/>
            <a:ext cx="10668000" cy="4761353"/>
          </a:xfrm>
        </p:spPr>
        <p:txBody>
          <a:bodyPr>
            <a:noAutofit/>
          </a:bodyPr>
          <a:lstStyle/>
          <a:p>
            <a:r>
              <a:rPr lang="en-US" dirty="0">
                <a:latin typeface="Times New Roman" panose="02020603050405020304" pitchFamily="18" charset="0"/>
                <a:cs typeface="Times New Roman" panose="02020603050405020304" pitchFamily="18" charset="0"/>
              </a:rPr>
              <a:t>[6] Sharma, R. and Verma, P., 2021. Artificial Intelligence in Disaster Prediction and Emergency Response Systems. International Journal of Computer Applications, 174(12), pp.15-22.</a:t>
            </a:r>
          </a:p>
          <a:p>
            <a:r>
              <a:rPr lang="en-US" dirty="0">
                <a:latin typeface="Times New Roman" panose="02020603050405020304" pitchFamily="18" charset="0"/>
                <a:cs typeface="Times New Roman" panose="02020603050405020304" pitchFamily="18" charset="0"/>
              </a:rPr>
              <a:t>[7] Kumar, S. and Rao, M., 2020. Cloud-Based Emergency Management Systems Using Web Technologies. International Journal of Advanced Research in Computer Science, 11(4), pp.45-53.</a:t>
            </a:r>
          </a:p>
          <a:p>
            <a:r>
              <a:rPr lang="en-US" dirty="0">
                <a:latin typeface="Times New Roman" panose="02020603050405020304" pitchFamily="18" charset="0"/>
                <a:cs typeface="Times New Roman" panose="02020603050405020304" pitchFamily="18" charset="0"/>
              </a:rPr>
              <a:t>[8] Patel, N. and Singh, A., 2022. Chatbot Applications for Public Safety and Crisis Communication. Journal of Emerging Technologies, 8(2), pp.67-75.</a:t>
            </a:r>
          </a:p>
          <a:p>
            <a:r>
              <a:rPr lang="en-US" dirty="0">
                <a:latin typeface="Times New Roman" panose="02020603050405020304" pitchFamily="18" charset="0"/>
                <a:cs typeface="Times New Roman" panose="02020603050405020304" pitchFamily="18" charset="0"/>
              </a:rPr>
              <a:t>[9] Ghosh, T. and Mehta, R., 2021. Secure Authentication Mechanisms for Web-Based Public Service Platforms. Journal of Information Security, 13(1), pp.31-40.</a:t>
            </a:r>
          </a:p>
          <a:p>
            <a:r>
              <a:rPr lang="en-US" dirty="0">
                <a:latin typeface="Times New Roman" panose="02020603050405020304" pitchFamily="18" charset="0"/>
                <a:cs typeface="Times New Roman" panose="02020603050405020304" pitchFamily="18" charset="0"/>
              </a:rPr>
              <a:t>[10] United Nations, 2020. Sustainable Development Goals. Department of Economic and Social Affairs UN, </a:t>
            </a:r>
            <a:r>
              <a:rPr lang="en-US" u="sng" dirty="0">
                <a:latin typeface="Times New Roman" panose="02020603050405020304" pitchFamily="18" charset="0"/>
                <a:cs typeface="Times New Roman" panose="02020603050405020304" pitchFamily="18" charset="0"/>
                <a:hlinkClick r:id="rId2"/>
              </a:rPr>
              <a:t>https://sdgs.un.org/goals</a:t>
            </a:r>
            <a:r>
              <a:rPr lang="en-US"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81DDB871361914C92E59AEC9AD0EF2A" ma:contentTypeVersion="6" ma:contentTypeDescription="Create a new document." ma:contentTypeScope="" ma:versionID="3b1bea0dde8aae405d0d05c1154a0ea0">
  <xsd:schema xmlns:xsd="http://www.w3.org/2001/XMLSchema" xmlns:xs="http://www.w3.org/2001/XMLSchema" xmlns:p="http://schemas.microsoft.com/office/2006/metadata/properties" xmlns:ns3="d450f434-8884-451b-956f-1819749fd748" targetNamespace="http://schemas.microsoft.com/office/2006/metadata/properties" ma:root="true" ma:fieldsID="8df2596337e672d37d0465f74a607f36" ns3:_="">
    <xsd:import namespace="d450f434-8884-451b-956f-1819749fd74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0f434-8884-451b-956f-1819749fd7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d450f434-8884-451b-956f-1819749fd748" xsi:nil="true"/>
  </documentManagement>
</p:properties>
</file>

<file path=customXml/itemProps1.xml><?xml version="1.0" encoding="utf-8"?>
<ds:datastoreItem xmlns:ds="http://schemas.openxmlformats.org/officeDocument/2006/customXml" ds:itemID="{74AAAF38-9C2C-4AD0-9175-44CB2EE4C098}">
  <ds:schemaRefs>
    <ds:schemaRef ds:uri="http://schemas.microsoft.com/sharepoint/v3/contenttype/forms"/>
  </ds:schemaRefs>
</ds:datastoreItem>
</file>

<file path=customXml/itemProps2.xml><?xml version="1.0" encoding="utf-8"?>
<ds:datastoreItem xmlns:ds="http://schemas.openxmlformats.org/officeDocument/2006/customXml" ds:itemID="{D13BDF88-B1DC-42FD-985B-A848637762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50f434-8884-451b-956f-1819749fd7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F6D1947-F20F-46DB-BEBF-D6778F53813A}">
  <ds:schemaRefs>
    <ds:schemaRef ds:uri="http://purl.org/dc/dcmitype/"/>
    <ds:schemaRef ds:uri="http://purl.org/dc/elements/1.1/"/>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d450f434-8884-451b-956f-1819749fd748"/>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1790</TotalTime>
  <Words>1675</Words>
  <Application>Microsoft Office PowerPoint</Application>
  <PresentationFormat>Widescreen</PresentationFormat>
  <Paragraphs>155</Paragraphs>
  <Slides>22</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Bookman Old Style</vt:lpstr>
      <vt:lpstr>Cambiria</vt:lpstr>
      <vt:lpstr>Cambria</vt:lpstr>
      <vt:lpstr>Times New Roman</vt:lpstr>
      <vt:lpstr>Verdana</vt:lpstr>
      <vt:lpstr>Wingdings</vt:lpstr>
      <vt:lpstr>Bioinformatics</vt:lpstr>
      <vt:lpstr>Disaster Preparedness and Response Education System for  Schools and Colleges </vt:lpstr>
      <vt:lpstr>Content</vt:lpstr>
      <vt:lpstr>Abstract</vt:lpstr>
      <vt:lpstr>Objectives</vt:lpstr>
      <vt:lpstr>ALGORITHM DETAILS</vt:lpstr>
      <vt:lpstr>Pseudo-code</vt:lpstr>
      <vt:lpstr>ALGORITHM DETAILS</vt:lpstr>
      <vt:lpstr>Pseudo-code</vt:lpstr>
      <vt:lpstr>ALGORITHM DETAILS</vt:lpstr>
      <vt:lpstr>Pseudo-code</vt:lpstr>
      <vt:lpstr>Pseudo-code</vt:lpstr>
      <vt:lpstr>Source code details</vt:lpstr>
      <vt:lpstr>Modules</vt:lpstr>
      <vt:lpstr>Code implementation</vt:lpstr>
      <vt:lpstr>Existing Methods and Drawbacks</vt:lpstr>
      <vt:lpstr>Proposed Method &amp; Feasibility Study</vt:lpstr>
      <vt:lpstr>Architecture Diagram</vt:lpstr>
      <vt:lpstr>Github Link</vt:lpstr>
      <vt:lpstr>Timeline (Gantt Chart)</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nithyahd2004@gmail.com</cp:lastModifiedBy>
  <cp:revision>99</cp:revision>
  <dcterms:modified xsi:type="dcterms:W3CDTF">2026-04-23T16:56:16Z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0x010100881DDB871361914C92E59AEC9AD0EF2A</vt:lpwstr>
  </property>
</Properties>
</file>