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57" r:id="rId4"/>
    <p:sldId id="278" r:id="rId5"/>
    <p:sldId id="275" r:id="rId6"/>
    <p:sldId id="279" r:id="rId7"/>
    <p:sldId id="280" r:id="rId8"/>
    <p:sldId id="281" r:id="rId9"/>
    <p:sldId id="282" r:id="rId10"/>
    <p:sldId id="272" r:id="rId11"/>
    <p:sldId id="268"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DC91AE-CBEA-CE3B-E01D-69565ACF1A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6012111-1E68-FBCF-A42A-118F09CA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73ABA0-B5E2-A307-2CC9-93146F304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8941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IN" sz="2400" dirty="0">
                <a:solidFill>
                  <a:schemeClr val="tx1"/>
                </a:solidFill>
                <a:latin typeface="Cambria" panose="02040503050406030204" pitchFamily="18" charset="0"/>
                <a:ea typeface="Cambria" panose="02040503050406030204" pitchFamily="18" charset="0"/>
              </a:rPr>
            </a:br>
            <a:r>
              <a:rPr lang="en-IN" sz="2400" dirty="0">
                <a:solidFill>
                  <a:schemeClr val="tx1"/>
                </a:solidFill>
                <a:latin typeface="Cambria" panose="02040503050406030204" pitchFamily="18" charset="0"/>
                <a:ea typeface="Cambria" panose="02040503050406030204" pitchFamily="18" charset="0"/>
              </a:rPr>
              <a:t>Schools and Colleges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CIT_32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Pushpalatha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8167633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a:t>
            </a:r>
            <a:r>
              <a:rPr lang="en-IN" sz="1800" b="1" dirty="0">
                <a:solidFill>
                  <a:srgbClr val="17365D"/>
                </a:solidFill>
                <a:latin typeface="Cambria" panose="02040503050406030204" pitchFamily="18" charset="0"/>
                <a:ea typeface="Cambria" panose="02040503050406030204" pitchFamily="18" charset="0"/>
                <a:cs typeface="Verdana"/>
                <a:sym typeface="Verdana"/>
              </a:rPr>
              <a:t>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53736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dirty="0">
                <a:solidFill>
                  <a:srgbClr val="FF0000"/>
                </a:solidFill>
                <a:latin typeface="Cambria" panose="02040503050406030204" pitchFamily="18" charset="0"/>
                <a:ea typeface="Cambria" panose="02040503050406030204" pitchFamily="18" charset="0"/>
                <a:cs typeface="Verdana"/>
                <a:sym typeface="Verdana"/>
              </a:rPr>
              <a:t>: 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Sharmasth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51E67373-2317-F039-3116-F0D01DB0249A}"/>
              </a:ext>
            </a:extLst>
          </p:cNvPr>
          <p:cNvGraphicFramePr>
            <a:graphicFrameLocks noGrp="1"/>
          </p:cNvGraphicFramePr>
          <p:nvPr>
            <p:extLst>
              <p:ext uri="{D42A27DB-BD31-4B8C-83A1-F6EECF244321}">
                <p14:modId xmlns:p14="http://schemas.microsoft.com/office/powerpoint/2010/main" val="2294954243"/>
              </p:ext>
            </p:extLst>
          </p:nvPr>
        </p:nvGraphicFramePr>
        <p:xfrm>
          <a:off x="635494" y="3262890"/>
          <a:ext cx="5336528" cy="1112520"/>
        </p:xfrm>
        <a:graphic>
          <a:graphicData uri="http://schemas.openxmlformats.org/drawingml/2006/table">
            <a:tbl>
              <a:tblPr firstRow="1" bandRow="1"/>
              <a:tblGrid>
                <a:gridCol w="2697641">
                  <a:extLst>
                    <a:ext uri="{9D8B030D-6E8A-4147-A177-3AD203B41FA5}">
                      <a16:colId xmlns:a16="http://schemas.microsoft.com/office/drawing/2014/main" val="3367395382"/>
                    </a:ext>
                  </a:extLst>
                </a:gridCol>
                <a:gridCol w="2638887">
                  <a:extLst>
                    <a:ext uri="{9D8B030D-6E8A-4147-A177-3AD203B41FA5}">
                      <a16:colId xmlns:a16="http://schemas.microsoft.com/office/drawing/2014/main" val="3675861212"/>
                    </a:ext>
                  </a:extLst>
                </a:gridCol>
              </a:tblGrid>
              <a:tr h="370840">
                <a:tc>
                  <a:txBody>
                    <a:bodyPr/>
                    <a:lstStyle/>
                    <a:p>
                      <a:r>
                        <a:rPr lang="en-IN" dirty="0"/>
                        <a:t>20221CIT0130</a:t>
                      </a:r>
                    </a:p>
                  </a:txBody>
                  <a:tcPr/>
                </a:tc>
                <a:tc>
                  <a:txBody>
                    <a:bodyPr/>
                    <a:lstStyle/>
                    <a:p>
                      <a:r>
                        <a:rPr lang="en-IN" dirty="0"/>
                        <a:t>Nithya H D</a:t>
                      </a:r>
                    </a:p>
                  </a:txBody>
                  <a:tcPr/>
                </a:tc>
                <a:extLst>
                  <a:ext uri="{0D108BD9-81ED-4DB2-BD59-A6C34878D82A}">
                    <a16:rowId xmlns:a16="http://schemas.microsoft.com/office/drawing/2014/main" val="379549341"/>
                  </a:ext>
                </a:extLst>
              </a:tr>
              <a:tr h="370840">
                <a:tc>
                  <a:txBody>
                    <a:bodyPr/>
                    <a:lstStyle/>
                    <a:p>
                      <a:r>
                        <a:rPr lang="en-IN" dirty="0"/>
                        <a:t>20221CIT0126</a:t>
                      </a:r>
                    </a:p>
                  </a:txBody>
                  <a:tcPr/>
                </a:tc>
                <a:tc>
                  <a:txBody>
                    <a:bodyPr/>
                    <a:lstStyle/>
                    <a:p>
                      <a:r>
                        <a:rPr lang="en-IN" dirty="0"/>
                        <a:t>Shreya A J</a:t>
                      </a:r>
                    </a:p>
                  </a:txBody>
                  <a:tcPr/>
                </a:tc>
                <a:extLst>
                  <a:ext uri="{0D108BD9-81ED-4DB2-BD59-A6C34878D82A}">
                    <a16:rowId xmlns:a16="http://schemas.microsoft.com/office/drawing/2014/main" val="446000065"/>
                  </a:ext>
                </a:extLst>
              </a:tr>
              <a:tr h="370840">
                <a:tc>
                  <a:txBody>
                    <a:bodyPr/>
                    <a:lstStyle/>
                    <a:p>
                      <a:r>
                        <a:rPr lang="en-IN" dirty="0"/>
                        <a:t>20221CIT0123</a:t>
                      </a:r>
                    </a:p>
                  </a:txBody>
                  <a:tcPr/>
                </a:tc>
                <a:tc>
                  <a:txBody>
                    <a:bodyPr/>
                    <a:lstStyle/>
                    <a:p>
                      <a:r>
                        <a:rPr lang="en-IN" dirty="0"/>
                        <a:t>Manisha S M</a:t>
                      </a:r>
                    </a:p>
                  </a:txBody>
                  <a:tcPr/>
                </a:tc>
                <a:extLst>
                  <a:ext uri="{0D108BD9-81ED-4DB2-BD59-A6C34878D82A}">
                    <a16:rowId xmlns:a16="http://schemas.microsoft.com/office/drawing/2014/main" val="1190640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 </a:t>
            </a:r>
          </a:p>
        </p:txBody>
      </p:sp>
      <p:sp>
        <p:nvSpPr>
          <p:cNvPr id="97" name="Google Shape;97;p14"/>
          <p:cNvSpPr txBox="1">
            <a:spLocks noGrp="1"/>
          </p:cNvSpPr>
          <p:nvPr>
            <p:ph type="body" idx="1"/>
          </p:nvPr>
        </p:nvSpPr>
        <p:spPr>
          <a:xfrm>
            <a:off x="812800" y="952499"/>
            <a:ext cx="10668000" cy="5271319"/>
          </a:xfrm>
          <a:prstGeom prst="rect">
            <a:avLst/>
          </a:prstGeom>
          <a:noFill/>
          <a:ln>
            <a:noFill/>
          </a:ln>
        </p:spPr>
        <p:txBody>
          <a:bodyPr spcFirstLastPara="1" wrap="square" lIns="91425" tIns="45700" rIns="91425" bIns="45700" anchor="t" anchorCtr="0">
            <a:noAutofit/>
          </a:bodyPr>
          <a:lstStyle/>
          <a:p>
            <a:pPr marL="342900" lvl="0" indent="-190500" algn="just">
              <a:lnSpc>
                <a:spcPct val="150000"/>
              </a:lnSpc>
              <a:spcBef>
                <a:spcPts val="0"/>
              </a:spcBef>
              <a:buNone/>
            </a:pPr>
            <a:r>
              <a:rPr lang="en-US" sz="2000" dirty="0">
                <a:latin typeface="Cambria" panose="02040503050406030204" pitchFamily="18" charset="0"/>
                <a:ea typeface="Cambria" panose="02040503050406030204" pitchFamily="18" charset="0"/>
              </a:rPr>
              <a:t>    Natural and man-made disasters pose significant risks to educational institutions, often resulting in loss of life, infrastructure damage, and disruption of academic activities. A major challenge identified is the lack of structured disaster preparedness education and real-time response mechanisms in schools and colleges. This project aims to design a </a:t>
            </a:r>
            <a:r>
              <a:rPr lang="en-US" sz="2000" b="1" dirty="0">
                <a:latin typeface="Cambria" panose="02040503050406030204" pitchFamily="18" charset="0"/>
                <a:ea typeface="Cambria" panose="02040503050406030204" pitchFamily="18" charset="0"/>
              </a:rPr>
              <a:t>Disaster Preparedness and Response Education System</a:t>
            </a:r>
            <a:r>
              <a:rPr lang="en-US" sz="2000" dirty="0">
                <a:latin typeface="Cambria" panose="02040503050406030204" pitchFamily="18" charset="0"/>
                <a:ea typeface="Cambria" panose="02040503050406030204" pitchFamily="18" charset="0"/>
              </a:rPr>
              <a:t> that integrates awareness training, early warning dissemination, and coordinated response strategies for students and staff. The proposed system combines digital learning modules, alert systems, and institutional coordination tools to enhance preparedness, reduce panic, and improve disaster response efficiency. The approach focuses on education-driven resilience using affordable and scalable technologies suitable for academic environments.</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Literature Survey</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8742B47D-E869-C8E0-B001-209EE7F7C505}"/>
              </a:ext>
            </a:extLst>
          </p:cNvPr>
          <p:cNvSpPr>
            <a:spLocks noGrp="1" noChangeArrowheads="1"/>
          </p:cNvSpPr>
          <p:nvPr>
            <p:ph type="body" idx="1"/>
          </p:nvPr>
        </p:nvSpPr>
        <p:spPr bwMode="auto">
          <a:xfrm>
            <a:off x="609600" y="1110343"/>
            <a:ext cx="11255828" cy="4247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Shaw et al. (2011) emphasized the role of education in disaster risk reduction (DRR) and found schools to be effective centers for community preparedness.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Izadkhah</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&amp; Hosseini (2005) highlighted that disaster education significantly improves student response behavior during emergencies.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Johnson et al. (2014) proposed digital learning platforms for disaster awareness but noted limited real-time response integration.</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Petal (2008) discussed school safety frameworks and identified gaps in practical disaster drills.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Ronan &amp; Johnston (2001) demonstrated that structured preparedness training reduces post-disaster psychological stress.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DE3A0-FED9-4DD1-014D-F3B1D7EF36F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Literature Survey</a:t>
            </a: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A3EECD52-6E11-13AD-A3F5-1AD0ADBF9590}"/>
              </a:ext>
            </a:extLst>
          </p:cNvPr>
          <p:cNvSpPr>
            <a:spLocks noGrp="1"/>
          </p:cNvSpPr>
          <p:nvPr>
            <p:ph type="body" idx="1"/>
          </p:nvPr>
        </p:nvSpPr>
        <p:spPr>
          <a:xfrm>
            <a:off x="664029" y="1164771"/>
            <a:ext cx="10816771" cy="4931230"/>
          </a:xfrm>
        </p:spPr>
        <p:txBody>
          <a:bodyPr/>
          <a:lstStyle/>
          <a:p>
            <a:pPr lvl="0" indent="-457200" algn="just" eaLnBrk="0" fontAlgn="base" hangingPunct="0">
              <a:lnSpc>
                <a:spcPct val="150000"/>
              </a:lnSpc>
              <a:spcBef>
                <a:spcPct val="0"/>
              </a:spcBef>
              <a:spcAft>
                <a:spcPct val="0"/>
              </a:spcAft>
              <a:buClrTx/>
              <a:buSzTx/>
              <a:buFont typeface="+mj-lt"/>
              <a:buAutoNum type="arabicPeriod" startAt="6"/>
            </a:pPr>
            <a:r>
              <a:rPr lang="en-US" altLang="en-US" sz="2000" dirty="0">
                <a:solidFill>
                  <a:schemeClr val="tx1"/>
                </a:solidFill>
                <a:latin typeface="Cambria" panose="02040503050406030204" pitchFamily="18" charset="0"/>
                <a:ea typeface="Cambria" panose="02040503050406030204" pitchFamily="18" charset="0"/>
              </a:rPr>
              <a:t>Albrecht et al. (2018) studied mobile alert systems and found improved response time in  educational campuses.</a:t>
            </a:r>
          </a:p>
          <a:p>
            <a:pPr lvl="0" indent="-457200" algn="just" eaLnBrk="0" fontAlgn="base" hangingPunct="0">
              <a:lnSpc>
                <a:spcPct val="150000"/>
              </a:lnSpc>
              <a:spcBef>
                <a:spcPct val="0"/>
              </a:spcBef>
              <a:spcAft>
                <a:spcPct val="0"/>
              </a:spcAft>
              <a:buClrTx/>
              <a:buSzTx/>
              <a:buFont typeface="+mj-lt"/>
              <a:buAutoNum type="arabicPeriod" startAt="6"/>
            </a:pPr>
            <a:r>
              <a:rPr lang="en-US" altLang="en-US" sz="2000" dirty="0">
                <a:solidFill>
                  <a:schemeClr val="tx1"/>
                </a:solidFill>
                <a:latin typeface="Cambria" panose="02040503050406030204" pitchFamily="18" charset="0"/>
                <a:ea typeface="Cambria" panose="02040503050406030204" pitchFamily="18" charset="0"/>
              </a:rPr>
              <a:t>Paton &amp; Johnston (2017) stressed the importance of multi-hazard education models in institutions.</a:t>
            </a:r>
          </a:p>
          <a:p>
            <a:pPr lvl="0" indent="-457200" algn="just" eaLnBrk="0" fontAlgn="base" hangingPunct="0">
              <a:lnSpc>
                <a:spcPct val="150000"/>
              </a:lnSpc>
              <a:spcBef>
                <a:spcPct val="0"/>
              </a:spcBef>
              <a:spcAft>
                <a:spcPct val="0"/>
              </a:spcAft>
              <a:buClrTx/>
              <a:buSzTx/>
              <a:buFont typeface="+mj-lt"/>
              <a:buAutoNum type="arabicPeriod" startAt="6"/>
            </a:pPr>
            <a:r>
              <a:rPr lang="en-US" altLang="en-US" sz="2000" dirty="0" err="1">
                <a:solidFill>
                  <a:schemeClr val="tx1"/>
                </a:solidFill>
                <a:latin typeface="Cambria" panose="02040503050406030204" pitchFamily="18" charset="0"/>
                <a:ea typeface="Cambria" panose="02040503050406030204" pitchFamily="18" charset="0"/>
              </a:rPr>
              <a:t>Shiwaku</a:t>
            </a:r>
            <a:r>
              <a:rPr lang="en-US" altLang="en-US" sz="2000" dirty="0">
                <a:solidFill>
                  <a:schemeClr val="tx1"/>
                </a:solidFill>
                <a:latin typeface="Cambria" panose="02040503050406030204" pitchFamily="18" charset="0"/>
                <a:ea typeface="Cambria" panose="02040503050406030204" pitchFamily="18" charset="0"/>
              </a:rPr>
              <a:t> et al. (2007) evaluated disaster simulations in schools and reported improved evacuation efficiency.</a:t>
            </a:r>
          </a:p>
          <a:p>
            <a:pPr lvl="0" indent="-457200" algn="just" eaLnBrk="0" fontAlgn="base" hangingPunct="0">
              <a:lnSpc>
                <a:spcPct val="150000"/>
              </a:lnSpc>
              <a:spcBef>
                <a:spcPct val="0"/>
              </a:spcBef>
              <a:spcAft>
                <a:spcPct val="0"/>
              </a:spcAft>
              <a:buClrTx/>
              <a:buSzTx/>
              <a:buFont typeface="+mj-lt"/>
              <a:buAutoNum type="arabicPeriod" startAt="6"/>
            </a:pPr>
            <a:r>
              <a:rPr lang="en-US" altLang="en-US" sz="2000" dirty="0">
                <a:solidFill>
                  <a:schemeClr val="tx1"/>
                </a:solidFill>
                <a:latin typeface="Cambria" panose="02040503050406030204" pitchFamily="18" charset="0"/>
                <a:ea typeface="Cambria" panose="02040503050406030204" pitchFamily="18" charset="0"/>
              </a:rPr>
              <a:t>Cutter et al. (2015) analyzed institutional disaster resilience and recommended technology-supported preparedness.</a:t>
            </a:r>
          </a:p>
          <a:p>
            <a:pPr lvl="0" indent="-457200" algn="just" eaLnBrk="0" fontAlgn="base" hangingPunct="0">
              <a:lnSpc>
                <a:spcPct val="150000"/>
              </a:lnSpc>
              <a:spcBef>
                <a:spcPct val="0"/>
              </a:spcBef>
              <a:spcAft>
                <a:spcPct val="0"/>
              </a:spcAft>
              <a:buClrTx/>
              <a:buSzTx/>
              <a:buFont typeface="+mj-lt"/>
              <a:buAutoNum type="arabicPeriod" startAt="6"/>
            </a:pPr>
            <a:r>
              <a:rPr lang="en-US" altLang="en-US" sz="2000" dirty="0">
                <a:solidFill>
                  <a:schemeClr val="tx1"/>
                </a:solidFill>
                <a:latin typeface="Cambria" panose="02040503050406030204" pitchFamily="18" charset="0"/>
                <a:ea typeface="Cambria" panose="02040503050406030204" pitchFamily="18" charset="0"/>
              </a:rPr>
              <a:t>UNDRR (2019) framework emphasized integrating disaster education into formal curricula.</a:t>
            </a:r>
          </a:p>
          <a:p>
            <a:pPr marL="76200" indent="0" algn="just">
              <a:buNone/>
            </a:pPr>
            <a:endParaRPr lang="en-IN" dirty="0"/>
          </a:p>
        </p:txBody>
      </p:sp>
    </p:spTree>
    <p:extLst>
      <p:ext uri="{BB962C8B-B14F-4D97-AF65-F5344CB8AC3E}">
        <p14:creationId xmlns:p14="http://schemas.microsoft.com/office/powerpoint/2010/main" val="666556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077329F-0DD8-FD18-0380-5DC16773CA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E8E8A0F-1865-A26F-1A36-0037BD0FAE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55104F7B-E917-752E-E5EC-34E18D3B2508}"/>
              </a:ext>
            </a:extLst>
          </p:cNvPr>
          <p:cNvSpPr txBox="1">
            <a:spLocks noGrp="1"/>
          </p:cNvSpPr>
          <p:nvPr>
            <p:ph type="body" idx="1"/>
          </p:nvPr>
        </p:nvSpPr>
        <p:spPr>
          <a:xfrm>
            <a:off x="655782" y="1142999"/>
            <a:ext cx="10668000" cy="4757057"/>
          </a:xfrm>
          <a:prstGeom prst="rect">
            <a:avLst/>
          </a:prstGeom>
          <a:noFill/>
          <a:ln>
            <a:noFill/>
          </a:ln>
        </p:spPr>
        <p:txBody>
          <a:bodyPr spcFirstLastPara="1" wrap="square" lIns="91425" tIns="45700" rIns="91425" bIns="45700" anchor="t" anchorCtr="0">
            <a:noAutofit/>
          </a:bodyPr>
          <a:lstStyle/>
          <a:p>
            <a:pPr marL="495300" indent="-342900" algn="just">
              <a:spcBef>
                <a:spcPts val="0"/>
              </a:spcBef>
            </a:pPr>
            <a:r>
              <a:rPr lang="en-US" sz="2000" dirty="0">
                <a:latin typeface="Cambria" panose="02040503050406030204" pitchFamily="18" charset="0"/>
                <a:ea typeface="Cambria" panose="02040503050406030204" pitchFamily="18" charset="0"/>
              </a:rPr>
              <a:t>To design and develop a digital disaster preparedness and response education system that equips students and staff in schools and colleges with structured, practical knowledge to effectively respond to natural disasters.</a:t>
            </a:r>
          </a:p>
          <a:p>
            <a:pPr marL="495300" indent="-342900" algn="just">
              <a:spcBef>
                <a:spcPts val="0"/>
              </a:spcBef>
            </a:pPr>
            <a:r>
              <a:rPr lang="en-US" sz="2000" b="1" dirty="0">
                <a:latin typeface="Cambria" panose="02040503050406030204" pitchFamily="18" charset="0"/>
                <a:ea typeface="Cambria" panose="02040503050406030204" pitchFamily="18" charset="0"/>
              </a:rPr>
              <a:t>To provide region-specific disaster awareness</a:t>
            </a:r>
            <a:r>
              <a:rPr lang="en-US" sz="2000" dirty="0">
                <a:latin typeface="Cambria" panose="02040503050406030204" pitchFamily="18" charset="0"/>
                <a:ea typeface="Cambria" panose="02040503050406030204" pitchFamily="18" charset="0"/>
              </a:rPr>
              <a:t> by educating users about disasters commonly occurring in their geographical area (such as floods, earthquakes, cyclones, or fires).</a:t>
            </a:r>
          </a:p>
          <a:p>
            <a:pPr marL="495300" indent="-342900" algn="just">
              <a:spcBef>
                <a:spcPts val="0"/>
              </a:spcBef>
            </a:pPr>
            <a:r>
              <a:rPr lang="en-US" sz="2000" b="1" dirty="0">
                <a:latin typeface="Cambria" panose="02040503050406030204" pitchFamily="18" charset="0"/>
                <a:ea typeface="Cambria" panose="02040503050406030204" pitchFamily="18" charset="0"/>
              </a:rPr>
              <a:t>To simulate real-life disaster scenarios through virtual drills and interactive modules</a:t>
            </a:r>
            <a:r>
              <a:rPr lang="en-US" sz="2000" dirty="0">
                <a:latin typeface="Cambria" panose="02040503050406030204" pitchFamily="18" charset="0"/>
                <a:ea typeface="Cambria" panose="02040503050406030204" pitchFamily="18" charset="0"/>
              </a:rPr>
              <a:t>, enabling students to practice safety protocols in a risk-free environment.</a:t>
            </a:r>
          </a:p>
          <a:p>
            <a:pPr marL="495300" indent="-342900" algn="just">
              <a:spcBef>
                <a:spcPts val="0"/>
              </a:spcBef>
            </a:pPr>
            <a:r>
              <a:rPr lang="en-US" sz="2000" b="1" dirty="0">
                <a:latin typeface="Cambria" panose="02040503050406030204" pitchFamily="18" charset="0"/>
                <a:ea typeface="Cambria" panose="02040503050406030204" pitchFamily="18" charset="0"/>
              </a:rPr>
              <a:t>To improve preparedness and response skills of students and staff</a:t>
            </a:r>
            <a:r>
              <a:rPr lang="en-US" sz="2000" dirty="0">
                <a:latin typeface="Cambria" panose="02040503050406030204" pitchFamily="18" charset="0"/>
                <a:ea typeface="Cambria" panose="02040503050406030204" pitchFamily="18" charset="0"/>
              </a:rPr>
              <a:t> by training them on evacuation procedures, first aid, emergency communication, and safety measures.</a:t>
            </a:r>
          </a:p>
          <a:p>
            <a:pPr marL="495300" indent="-342900" algn="just">
              <a:spcBef>
                <a:spcPts val="0"/>
              </a:spcBef>
            </a:pPr>
            <a:r>
              <a:rPr lang="en-US" sz="2000" b="1" dirty="0">
                <a:latin typeface="Cambria" panose="02040503050406030204" pitchFamily="18" charset="0"/>
                <a:ea typeface="Cambria" panose="02040503050406030204" pitchFamily="18" charset="0"/>
              </a:rPr>
              <a:t>To overcome limitations of manual disaster drills</a:t>
            </a:r>
            <a:r>
              <a:rPr lang="en-US" sz="2000" dirty="0">
                <a:latin typeface="Cambria" panose="02040503050406030204" pitchFamily="18" charset="0"/>
                <a:ea typeface="Cambria" panose="02040503050406030204" pitchFamily="18" charset="0"/>
              </a:rPr>
              <a:t> by offering frequent, scalable, and well-coordinated digital training sessions.</a:t>
            </a:r>
          </a:p>
          <a:p>
            <a:pPr marL="495300" indent="-342900" algn="just">
              <a:spcBef>
                <a:spcPts val="0"/>
              </a:spcBef>
            </a:pPr>
            <a:r>
              <a:rPr lang="en-US" sz="2000" b="1" dirty="0">
                <a:latin typeface="Cambria" panose="02040503050406030204" pitchFamily="18" charset="0"/>
                <a:ea typeface="Cambria" panose="02040503050406030204" pitchFamily="18" charset="0"/>
              </a:rPr>
              <a:t>To promote a culture of safety and resilience within educational institutions</a:t>
            </a:r>
            <a:r>
              <a:rPr lang="en-US" sz="2000" dirty="0">
                <a:latin typeface="Cambria" panose="02040503050406030204" pitchFamily="18" charset="0"/>
                <a:ea typeface="Cambria" panose="02040503050406030204" pitchFamily="18" charset="0"/>
              </a:rPr>
              <a:t> by encouraging continuous learning and awareness in disaster risk reduction.</a:t>
            </a:r>
          </a:p>
        </p:txBody>
      </p:sp>
    </p:spTree>
    <p:extLst>
      <p:ext uri="{BB962C8B-B14F-4D97-AF65-F5344CB8AC3E}">
        <p14:creationId xmlns:p14="http://schemas.microsoft.com/office/powerpoint/2010/main" val="289261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9747-A723-C6B0-BF58-F28B599F8F41}"/>
              </a:ext>
            </a:extLst>
          </p:cNvPr>
          <p:cNvSpPr>
            <a:spLocks noGrp="1"/>
          </p:cNvSpPr>
          <p:nvPr>
            <p:ph type="title"/>
          </p:nvPr>
        </p:nvSpPr>
        <p:spPr/>
        <p:txBody>
          <a:bodyPr/>
          <a:lstStyle/>
          <a:p>
            <a:r>
              <a:rPr lang="en-US" dirty="0">
                <a:solidFill>
                  <a:schemeClr val="bg2"/>
                </a:solidFill>
                <a:latin typeface="Cambria" panose="02040503050406030204" pitchFamily="18" charset="0"/>
                <a:ea typeface="Cambria" panose="02040503050406030204" pitchFamily="18" charset="0"/>
              </a:rPr>
              <a:t>Existing Methods And Drawbacks</a:t>
            </a:r>
            <a:endParaRPr lang="en-IN" dirty="0">
              <a:solidFill>
                <a:schemeClr val="bg2"/>
              </a:solidFill>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897627E-538C-7CCF-8843-5885CD6CED2D}"/>
              </a:ext>
            </a:extLst>
          </p:cNvPr>
          <p:cNvSpPr>
            <a:spLocks noGrp="1"/>
          </p:cNvSpPr>
          <p:nvPr>
            <p:ph type="body" idx="1"/>
          </p:nvPr>
        </p:nvSpPr>
        <p:spPr>
          <a:xfrm>
            <a:off x="664632" y="1110343"/>
            <a:ext cx="3569911" cy="639900"/>
          </a:xfrm>
        </p:spPr>
        <p:txBody>
          <a:bodyPr>
            <a:normAutofit/>
          </a:bodyPr>
          <a:lstStyle/>
          <a:p>
            <a:pPr algn="ctr"/>
            <a:r>
              <a:rPr lang="en-US" dirty="0">
                <a:solidFill>
                  <a:schemeClr val="bg2"/>
                </a:solidFill>
                <a:latin typeface="Cambria" panose="02040503050406030204" pitchFamily="18" charset="0"/>
                <a:ea typeface="Cambria" panose="02040503050406030204" pitchFamily="18" charset="0"/>
              </a:rPr>
              <a:t>Existing Methods</a:t>
            </a:r>
            <a:endParaRPr lang="en-IN" dirty="0">
              <a:solidFill>
                <a:schemeClr val="bg2"/>
              </a:solidFill>
              <a:latin typeface="Cambria" panose="02040503050406030204" pitchFamily="18" charset="0"/>
              <a:ea typeface="Cambria" panose="02040503050406030204" pitchFamily="18" charset="0"/>
            </a:endParaRPr>
          </a:p>
        </p:txBody>
      </p:sp>
      <p:sp>
        <p:nvSpPr>
          <p:cNvPr id="5" name="Text Placeholder 4">
            <a:extLst>
              <a:ext uri="{FF2B5EF4-FFF2-40B4-BE49-F238E27FC236}">
                <a16:creationId xmlns:a16="http://schemas.microsoft.com/office/drawing/2014/main" id="{F8E4D8AA-6454-200F-255E-9915094359B4}"/>
              </a:ext>
            </a:extLst>
          </p:cNvPr>
          <p:cNvSpPr>
            <a:spLocks noGrp="1"/>
          </p:cNvSpPr>
          <p:nvPr>
            <p:ph type="body" idx="3"/>
          </p:nvPr>
        </p:nvSpPr>
        <p:spPr>
          <a:xfrm>
            <a:off x="6096000" y="1211376"/>
            <a:ext cx="5257801" cy="538867"/>
          </a:xfrm>
        </p:spPr>
        <p:txBody>
          <a:bodyPr>
            <a:normAutofit/>
          </a:bodyPr>
          <a:lstStyle/>
          <a:p>
            <a:pPr algn="ctr"/>
            <a:r>
              <a:rPr lang="en-US" dirty="0">
                <a:solidFill>
                  <a:schemeClr val="bg2"/>
                </a:solidFill>
                <a:latin typeface="Cambria" panose="02040503050406030204" pitchFamily="18" charset="0"/>
                <a:ea typeface="Cambria" panose="02040503050406030204" pitchFamily="18" charset="0"/>
              </a:rPr>
              <a:t>Drawbacks</a:t>
            </a:r>
            <a:endParaRPr lang="en-IN" dirty="0">
              <a:solidFill>
                <a:schemeClr val="bg2"/>
              </a:solidFill>
              <a:latin typeface="Cambria" panose="02040503050406030204" pitchFamily="18" charset="0"/>
              <a:ea typeface="Cambria" panose="02040503050406030204" pitchFamily="18" charset="0"/>
            </a:endParaRPr>
          </a:p>
        </p:txBody>
      </p:sp>
      <p:sp>
        <p:nvSpPr>
          <p:cNvPr id="7" name="Rectangle 1">
            <a:extLst>
              <a:ext uri="{FF2B5EF4-FFF2-40B4-BE49-F238E27FC236}">
                <a16:creationId xmlns:a16="http://schemas.microsoft.com/office/drawing/2014/main" id="{55B793B1-5935-B27B-54C6-114F9A0AF276}"/>
              </a:ext>
            </a:extLst>
          </p:cNvPr>
          <p:cNvSpPr>
            <a:spLocks noGrp="1" noChangeArrowheads="1"/>
          </p:cNvSpPr>
          <p:nvPr>
            <p:ph type="body" idx="2"/>
          </p:nvPr>
        </p:nvSpPr>
        <p:spPr bwMode="auto">
          <a:xfrm>
            <a:off x="664632" y="1669310"/>
            <a:ext cx="410331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disaster drills and evacuation plans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Printed safety manuals and awareness sessions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Government alert systems (SMS, TV, radio)</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Standalone mobile disaster alert apps</a:t>
            </a:r>
          </a:p>
        </p:txBody>
      </p:sp>
      <p:sp>
        <p:nvSpPr>
          <p:cNvPr id="8" name="Rectangle 2">
            <a:extLst>
              <a:ext uri="{FF2B5EF4-FFF2-40B4-BE49-F238E27FC236}">
                <a16:creationId xmlns:a16="http://schemas.microsoft.com/office/drawing/2014/main" id="{05A5F440-6DEE-2175-57F3-9A5A30A1B7B6}"/>
              </a:ext>
            </a:extLst>
          </p:cNvPr>
          <p:cNvSpPr>
            <a:spLocks noGrp="1" noChangeArrowheads="1"/>
          </p:cNvSpPr>
          <p:nvPr>
            <p:ph type="body" idx="4"/>
          </p:nvPr>
        </p:nvSpPr>
        <p:spPr bwMode="auto">
          <a:xfrm>
            <a:off x="6193370" y="1685122"/>
            <a:ext cx="516043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 centralized system for schools and colleges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Delayed communication during emergencies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Limited customization for campus-specific risks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Lack of continuous engagement and training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Minimal integration between education and real-time response</a:t>
            </a:r>
          </a:p>
        </p:txBody>
      </p:sp>
    </p:spTree>
    <p:extLst>
      <p:ext uri="{BB962C8B-B14F-4D97-AF65-F5344CB8AC3E}">
        <p14:creationId xmlns:p14="http://schemas.microsoft.com/office/powerpoint/2010/main" val="1873743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3B00D-56AC-7BDE-242E-FFD79AE84380}"/>
              </a:ext>
            </a:extLst>
          </p:cNvPr>
          <p:cNvSpPr>
            <a:spLocks noGrp="1"/>
          </p:cNvSpPr>
          <p:nvPr>
            <p:ph type="title"/>
          </p:nvPr>
        </p:nvSpPr>
        <p:spPr/>
        <p:txBody>
          <a:bodyPr/>
          <a:lstStyle/>
          <a:p>
            <a:r>
              <a:rPr lang="en-US" dirty="0">
                <a:solidFill>
                  <a:schemeClr val="bg2"/>
                </a:solidFill>
                <a:latin typeface="Cambria" panose="02040503050406030204" pitchFamily="18" charset="0"/>
                <a:ea typeface="Cambria" panose="02040503050406030204" pitchFamily="18" charset="0"/>
              </a:rPr>
              <a:t>Proposed Method And Feasibility Study</a:t>
            </a:r>
            <a:endParaRPr lang="en-IN" dirty="0">
              <a:solidFill>
                <a:schemeClr val="bg2"/>
              </a:solidFill>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BC53208E-6DE5-0FC1-687F-3E9CB4104DAC}"/>
              </a:ext>
            </a:extLst>
          </p:cNvPr>
          <p:cNvSpPr>
            <a:spLocks noGrp="1"/>
          </p:cNvSpPr>
          <p:nvPr>
            <p:ph type="body" idx="1"/>
          </p:nvPr>
        </p:nvSpPr>
        <p:spPr>
          <a:xfrm>
            <a:off x="979177" y="1218021"/>
            <a:ext cx="3516086" cy="487500"/>
          </a:xfrm>
        </p:spPr>
        <p:txBody>
          <a:bodyPr>
            <a:normAutofit lnSpcReduction="10000"/>
          </a:bodyPr>
          <a:lstStyle/>
          <a:p>
            <a:pPr algn="ctr"/>
            <a:r>
              <a:rPr lang="en-US" dirty="0">
                <a:solidFill>
                  <a:schemeClr val="bg2"/>
                </a:solidFill>
                <a:latin typeface="Cambria" panose="02040503050406030204" pitchFamily="18" charset="0"/>
                <a:ea typeface="Cambria" panose="02040503050406030204" pitchFamily="18" charset="0"/>
              </a:rPr>
              <a:t>Proposed Method</a:t>
            </a:r>
            <a:endParaRPr lang="en-IN" dirty="0">
              <a:solidFill>
                <a:schemeClr val="bg2"/>
              </a:solidFill>
              <a:latin typeface="Cambria" panose="02040503050406030204" pitchFamily="18" charset="0"/>
              <a:ea typeface="Cambria" panose="02040503050406030204" pitchFamily="18" charset="0"/>
            </a:endParaRPr>
          </a:p>
        </p:txBody>
      </p:sp>
      <p:sp>
        <p:nvSpPr>
          <p:cNvPr id="5" name="Text Placeholder 4">
            <a:extLst>
              <a:ext uri="{FF2B5EF4-FFF2-40B4-BE49-F238E27FC236}">
                <a16:creationId xmlns:a16="http://schemas.microsoft.com/office/drawing/2014/main" id="{7C761A8E-C854-75A1-A90D-A9F0F5725B81}"/>
              </a:ext>
            </a:extLst>
          </p:cNvPr>
          <p:cNvSpPr>
            <a:spLocks noGrp="1"/>
          </p:cNvSpPr>
          <p:nvPr>
            <p:ph type="body" idx="3"/>
          </p:nvPr>
        </p:nvSpPr>
        <p:spPr>
          <a:xfrm>
            <a:off x="6193369" y="1088571"/>
            <a:ext cx="5388900" cy="563700"/>
          </a:xfrm>
        </p:spPr>
        <p:txBody>
          <a:bodyPr>
            <a:normAutofit lnSpcReduction="10000"/>
          </a:bodyPr>
          <a:lstStyle/>
          <a:p>
            <a:pPr algn="ctr"/>
            <a:r>
              <a:rPr lang="en-US" dirty="0">
                <a:solidFill>
                  <a:schemeClr val="bg2"/>
                </a:solidFill>
                <a:latin typeface="Cambria" panose="02040503050406030204" pitchFamily="18" charset="0"/>
                <a:ea typeface="Cambria" panose="02040503050406030204" pitchFamily="18" charset="0"/>
              </a:rPr>
              <a:t>Feasibility Study</a:t>
            </a:r>
            <a:endParaRPr lang="en-IN" dirty="0">
              <a:solidFill>
                <a:schemeClr val="bg2"/>
              </a:solidFill>
              <a:latin typeface="Cambria" panose="02040503050406030204" pitchFamily="18" charset="0"/>
              <a:ea typeface="Cambria" panose="02040503050406030204" pitchFamily="18" charset="0"/>
            </a:endParaRPr>
          </a:p>
        </p:txBody>
      </p:sp>
      <p:sp>
        <p:nvSpPr>
          <p:cNvPr id="7" name="Rectangle 1">
            <a:extLst>
              <a:ext uri="{FF2B5EF4-FFF2-40B4-BE49-F238E27FC236}">
                <a16:creationId xmlns:a16="http://schemas.microsoft.com/office/drawing/2014/main" id="{98C4969A-FC0D-661A-5070-CE20EDCF44F5}"/>
              </a:ext>
            </a:extLst>
          </p:cNvPr>
          <p:cNvSpPr>
            <a:spLocks noGrp="1" noChangeArrowheads="1"/>
          </p:cNvSpPr>
          <p:nvPr>
            <p:ph type="body" idx="2"/>
          </p:nvPr>
        </p:nvSpPr>
        <p:spPr bwMode="auto">
          <a:xfrm>
            <a:off x="359229" y="1697183"/>
            <a:ext cx="551905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web and mobile-based disaster education and response platform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Interactive learning modules for disaster preparedness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Real-time alert system integrated with government APIs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Emergency response dashboard for institutions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Automated evacuation and safety guidance</a:t>
            </a:r>
          </a:p>
        </p:txBody>
      </p:sp>
      <p:sp>
        <p:nvSpPr>
          <p:cNvPr id="8" name="Rectangle 2">
            <a:extLst>
              <a:ext uri="{FF2B5EF4-FFF2-40B4-BE49-F238E27FC236}">
                <a16:creationId xmlns:a16="http://schemas.microsoft.com/office/drawing/2014/main" id="{CB0A9BC2-5D31-8B6A-58B6-807787ABDF47}"/>
              </a:ext>
            </a:extLst>
          </p:cNvPr>
          <p:cNvSpPr>
            <a:spLocks noGrp="1" noChangeArrowheads="1"/>
          </p:cNvSpPr>
          <p:nvPr>
            <p:ph type="body" idx="4"/>
          </p:nvPr>
        </p:nvSpPr>
        <p:spPr bwMode="auto">
          <a:xfrm>
            <a:off x="6313243" y="1633412"/>
            <a:ext cx="53889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Technical Feasibility: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Uses existing web, mobile, and cloud technologies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Economic Feasibility: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Low-cost deployment using open-source tools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Operational Feasibility: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Easy adoption by students and staff</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Scalability: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Can be extended to multiple institutions and regions</a:t>
            </a:r>
          </a:p>
        </p:txBody>
      </p:sp>
    </p:spTree>
    <p:extLst>
      <p:ext uri="{BB962C8B-B14F-4D97-AF65-F5344CB8AC3E}">
        <p14:creationId xmlns:p14="http://schemas.microsoft.com/office/powerpoint/2010/main" val="33396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FD35-F37C-9844-F8F4-38E050C98F6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Architecture Diagram</a:t>
            </a:r>
            <a:endParaRPr lang="en-IN"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7D204FAE-409D-3D0D-3D61-C2A17EEF25CA}"/>
              </a:ext>
            </a:extLst>
          </p:cNvPr>
          <p:cNvPicPr>
            <a:picLocks noChangeAspect="1"/>
          </p:cNvPicPr>
          <p:nvPr/>
        </p:nvPicPr>
        <p:blipFill>
          <a:blip r:embed="rId2"/>
          <a:stretch>
            <a:fillRect/>
          </a:stretch>
        </p:blipFill>
        <p:spPr>
          <a:xfrm>
            <a:off x="934358" y="1101026"/>
            <a:ext cx="10234386" cy="4863075"/>
          </a:xfrm>
          <a:prstGeom prst="rect">
            <a:avLst/>
          </a:prstGeom>
        </p:spPr>
      </p:pic>
    </p:spTree>
    <p:extLst>
      <p:ext uri="{BB962C8B-B14F-4D97-AF65-F5344CB8AC3E}">
        <p14:creationId xmlns:p14="http://schemas.microsoft.com/office/powerpoint/2010/main" val="130479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27B6A-9CE8-B615-86AD-9C0EE059849D}"/>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Modules</a:t>
            </a:r>
            <a:endParaRPr lang="en-IN"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6FA4FCAE-24C9-0596-61E5-35D4AF0DA5C5}"/>
              </a:ext>
            </a:extLst>
          </p:cNvPr>
          <p:cNvSpPr>
            <a:spLocks noGrp="1" noChangeArrowheads="1"/>
          </p:cNvSpPr>
          <p:nvPr>
            <p:ph type="body" idx="1"/>
          </p:nvPr>
        </p:nvSpPr>
        <p:spPr bwMode="auto">
          <a:xfrm>
            <a:off x="812799" y="1126511"/>
            <a:ext cx="10573657"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just" defTabSz="914400" rtl="0" eaLnBrk="0" fontAlgn="base" latinLnBrk="0" hangingPunct="0">
              <a:lnSpc>
                <a:spcPct val="150000"/>
              </a:lnSpc>
              <a:spcBef>
                <a:spcPct val="0"/>
              </a:spcBef>
              <a:spcAft>
                <a:spcPct val="0"/>
              </a:spcAft>
              <a:buClrTx/>
              <a:buSzTx/>
              <a:buAutoNum type="arabicPeriod"/>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User Management Module</a:t>
            </a:r>
            <a:endParaRPr lang="en-US" altLang="en-US" sz="2000" dirty="0">
              <a:solidFill>
                <a:schemeClr val="tx1"/>
              </a:solidFill>
              <a:latin typeface="Cambria" panose="02040503050406030204" pitchFamily="18" charset="0"/>
              <a:ea typeface="Cambria" panose="02040503050406030204" pitchFamily="18" charset="0"/>
            </a:endParaRPr>
          </a:p>
          <a:p>
            <a:pPr marL="0" indent="0" algn="just" eaLnBrk="0" fontAlgn="base" hangingPunct="0">
              <a:lnSpc>
                <a:spcPct val="150000"/>
              </a:lnSpc>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Student, staff, and admin authentication</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2. Disaster Education Module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E-learning content, quizzes, simulations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3. Alert &amp; Notification Module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Real-time alerts via SMS, app, email</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 Response Coordination Module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Evacuation plans and emergency contacts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5. Reporting &amp; Analytics Module</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Preparedness reports and response analysis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0037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Hardware And Software Requirements:</a:t>
            </a:r>
          </a:p>
        </p:txBody>
      </p:sp>
      <p:sp>
        <p:nvSpPr>
          <p:cNvPr id="115" name="Google Shape;115;p17"/>
          <p:cNvSpPr txBox="1">
            <a:spLocks noGrp="1"/>
          </p:cNvSpPr>
          <p:nvPr>
            <p:ph type="body" idx="1"/>
          </p:nvPr>
        </p:nvSpPr>
        <p:spPr>
          <a:xfrm>
            <a:off x="762000" y="762138"/>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200" b="1" dirty="0">
                <a:latin typeface="Cambria" panose="02040503050406030204" pitchFamily="18" charset="0"/>
                <a:ea typeface="Cambria" panose="02040503050406030204" pitchFamily="18" charset="0"/>
              </a:rPr>
              <a:t>Software Requirements:</a:t>
            </a:r>
            <a:endParaRPr lang="en-IN" sz="2200" b="1"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Operating System: Windows / Linux / macOS</a:t>
            </a:r>
          </a:p>
          <a:p>
            <a:r>
              <a:rPr lang="en-IN" sz="2000" dirty="0">
                <a:latin typeface="Cambria" panose="02040503050406030204" pitchFamily="18" charset="0"/>
                <a:ea typeface="Cambria" panose="02040503050406030204" pitchFamily="18" charset="0"/>
              </a:rPr>
              <a:t>Frontend Technologies: HTML, CSS, JavaScript</a:t>
            </a:r>
          </a:p>
          <a:p>
            <a:r>
              <a:rPr lang="en-IN" sz="2000" dirty="0">
                <a:latin typeface="Cambria" panose="02040503050406030204" pitchFamily="18" charset="0"/>
                <a:ea typeface="Cambria" panose="02040503050406030204" pitchFamily="18" charset="0"/>
              </a:rPr>
              <a:t>Backend Technologies: Java / Python / Node.js</a:t>
            </a:r>
          </a:p>
          <a:p>
            <a:r>
              <a:rPr lang="en-IN" sz="2000" dirty="0">
                <a:latin typeface="Cambria" panose="02040503050406030204" pitchFamily="18" charset="0"/>
                <a:ea typeface="Cambria" panose="02040503050406030204" pitchFamily="18" charset="0"/>
              </a:rPr>
              <a:t>Database: MySQL / MongoDB</a:t>
            </a:r>
          </a:p>
          <a:p>
            <a:r>
              <a:rPr lang="en-IN" sz="2000" dirty="0">
                <a:latin typeface="Cambria" panose="02040503050406030204" pitchFamily="18" charset="0"/>
                <a:ea typeface="Cambria" panose="02040503050406030204" pitchFamily="18" charset="0"/>
              </a:rPr>
              <a:t>Web Browser: Google Chrome / Mozilla Firefox</a:t>
            </a:r>
          </a:p>
          <a:p>
            <a:r>
              <a:rPr lang="en-IN" sz="2000" dirty="0">
                <a:latin typeface="Cambria" panose="02040503050406030204" pitchFamily="18" charset="0"/>
                <a:ea typeface="Cambria" panose="02040503050406030204" pitchFamily="18" charset="0"/>
              </a:rPr>
              <a:t>Development Tools: VS Code / IntelliJ / Eclipse</a:t>
            </a:r>
          </a:p>
          <a:p>
            <a:pPr marL="76200" indent="0">
              <a:buNone/>
            </a:pPr>
            <a:r>
              <a:rPr lang="en-US" sz="2200" b="1" dirty="0">
                <a:latin typeface="Cambria" panose="02040503050406030204" pitchFamily="18" charset="0"/>
                <a:ea typeface="Cambria" panose="02040503050406030204" pitchFamily="18" charset="0"/>
              </a:rPr>
              <a:t>Hardware Requirements:</a:t>
            </a:r>
          </a:p>
          <a:p>
            <a:r>
              <a:rPr lang="en-US" sz="2000" dirty="0">
                <a:latin typeface="Cambria" panose="02040503050406030204" pitchFamily="18" charset="0"/>
                <a:ea typeface="Cambria" panose="02040503050406030204" pitchFamily="18" charset="0"/>
              </a:rPr>
              <a:t>Processor: Intel i3 or higher</a:t>
            </a:r>
          </a:p>
          <a:p>
            <a:r>
              <a:rPr lang="en-US" sz="2000" dirty="0">
                <a:latin typeface="Cambria" panose="02040503050406030204" pitchFamily="18" charset="0"/>
                <a:ea typeface="Cambria" panose="02040503050406030204" pitchFamily="18" charset="0"/>
              </a:rPr>
              <a:t>RAM: Minimum 4 GB (8 GB recommended)</a:t>
            </a:r>
          </a:p>
          <a:p>
            <a:r>
              <a:rPr lang="en-US" sz="2000" dirty="0">
                <a:latin typeface="Cambria" panose="02040503050406030204" pitchFamily="18" charset="0"/>
                <a:ea typeface="Cambria" panose="02040503050406030204" pitchFamily="18" charset="0"/>
              </a:rPr>
              <a:t>Storage: Minimum 100 GB free space</a:t>
            </a:r>
          </a:p>
          <a:p>
            <a:r>
              <a:rPr lang="en-US" sz="2000" dirty="0">
                <a:latin typeface="Cambria" panose="02040503050406030204" pitchFamily="18" charset="0"/>
                <a:ea typeface="Cambria" panose="02040503050406030204" pitchFamily="18" charset="0"/>
              </a:rPr>
              <a:t>Internet Connection: Required for online access and updates</a:t>
            </a:r>
          </a:p>
          <a:p>
            <a:pPr marL="76200" indent="0">
              <a:buNone/>
            </a:pPr>
            <a:endParaRPr lang="en-IN"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https://github.com/MANISHA-S-M/final_year_project</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627ADCA6-FCE2-03FD-978D-5099807D9C5B}"/>
              </a:ext>
            </a:extLst>
          </p:cNvPr>
          <p:cNvPicPr>
            <a:picLocks noChangeAspect="1"/>
          </p:cNvPicPr>
          <p:nvPr/>
        </p:nvPicPr>
        <p:blipFill>
          <a:blip r:embed="rId3"/>
          <a:stretch>
            <a:fillRect/>
          </a:stretch>
        </p:blipFill>
        <p:spPr>
          <a:xfrm>
            <a:off x="952500" y="976745"/>
            <a:ext cx="10287000" cy="510193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30909" y="86244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b="1" dirty="0">
                <a:latin typeface="Cambria" panose="02040503050406030204" pitchFamily="18" charset="0"/>
                <a:ea typeface="Cambria" panose="02040503050406030204" pitchFamily="18" charset="0"/>
              </a:rPr>
              <a:t>[1]</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 Shaw, R. Takeuchi, and S. K. Jain,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Disaster education and preparedness: A systematic review of school-based disaster risk reduction programs</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dirty="0">
                <a:latin typeface="Cambria" panose="02040503050406030204" pitchFamily="18" charset="0"/>
                <a:ea typeface="Cambria" panose="02040503050406030204" pitchFamily="18" charset="0"/>
              </a:rPr>
              <a:t>[2] A. R. Mishra and P. K. Singh,</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A digital framework for disaster preparedness and emergency response training using simulation-based learning</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sz="2200"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TotalTime>
  <Words>976</Words>
  <Application>Microsoft Office PowerPoint</Application>
  <PresentationFormat>Widescreen</PresentationFormat>
  <Paragraphs>114</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Verdana</vt:lpstr>
      <vt:lpstr>Bioinformatics</vt:lpstr>
      <vt:lpstr>Disaster Preparedness and Response Education System for  Schools and Colleges</vt:lpstr>
      <vt:lpstr>Abstract: </vt:lpstr>
      <vt:lpstr>Literature Survey</vt:lpstr>
      <vt:lpstr>Literature Survey</vt:lpstr>
      <vt:lpstr>Objectives</vt:lpstr>
      <vt:lpstr>Existing Methods And Drawbacks</vt:lpstr>
      <vt:lpstr>Proposed Method And Feasibility Study</vt:lpstr>
      <vt:lpstr>Architecture Diagram</vt:lpstr>
      <vt:lpstr>Modules</vt:lpstr>
      <vt:lpstr>Hardware And Software Requirements: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nithyahd2004@gmail.com</cp:lastModifiedBy>
  <cp:revision>55</cp:revision>
  <dcterms:modified xsi:type="dcterms:W3CDTF">2026-01-30T11:01:27Z</dcterms:modified>
</cp:coreProperties>
</file>