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69" r:id="rId3"/>
    <p:sldId id="257" r:id="rId4"/>
    <p:sldId id="280" r:id="rId5"/>
    <p:sldId id="281" r:id="rId6"/>
    <p:sldId id="282" r:id="rId7"/>
    <p:sldId id="283" r:id="rId8"/>
    <p:sldId id="277" r:id="rId9"/>
    <p:sldId id="275" r:id="rId10"/>
    <p:sldId id="276" r:id="rId11"/>
    <p:sldId id="278" r:id="rId12"/>
    <p:sldId id="279" r:id="rId13"/>
    <p:sldId id="268" r:id="rId14"/>
    <p:sldId id="270" r:id="rId15"/>
    <p:sldId id="265" r:id="rId16"/>
    <p:sldId id="26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0"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FCF74FF-5F2A-5E58-E334-D4C48CA9EB0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CECBB9D1-A6BC-6E9E-EF87-52E01A3E35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A341E79B-5EAA-A859-875C-81D079BD44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39069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9DC91AE-CBEA-CE3B-E01D-69565ACF1AF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E6012111-1E68-FBCF-A42A-118F09CA9D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B73ABA0-B5E2-A307-2CC9-93146F3043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58941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99D33E5-015B-4010-A326-EE105B0A395B}"/>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7BE45ABD-2F84-DC22-C404-9CE0B914A5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9A9EB9BF-0BBE-813C-1B5E-629B58123A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82578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IN" sz="2400" dirty="0">
                <a:solidFill>
                  <a:schemeClr val="tx1"/>
                </a:solidFill>
                <a:latin typeface="Cambria" panose="02040503050406030204" pitchFamily="18" charset="0"/>
                <a:ea typeface="Cambria" panose="02040503050406030204" pitchFamily="18" charset="0"/>
              </a:rPr>
              <a:t>Disaster Preparedness and Response Education System for </a:t>
            </a:r>
            <a:br>
              <a:rPr lang="en-IN" sz="2400" dirty="0">
                <a:solidFill>
                  <a:schemeClr val="tx1"/>
                </a:solidFill>
                <a:latin typeface="Cambria" panose="02040503050406030204" pitchFamily="18" charset="0"/>
                <a:ea typeface="Cambria" panose="02040503050406030204" pitchFamily="18" charset="0"/>
              </a:rPr>
            </a:br>
            <a:r>
              <a:rPr lang="en-IN" sz="2400" dirty="0">
                <a:solidFill>
                  <a:schemeClr val="tx1"/>
                </a:solidFill>
                <a:latin typeface="Cambria" panose="02040503050406030204" pitchFamily="18" charset="0"/>
                <a:ea typeface="Cambria" panose="02040503050406030204" pitchFamily="18" charset="0"/>
              </a:rPr>
              <a:t>Schools and Colleges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CIT_32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Pushpalatha M,</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981676333"/>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lvl="0" algn="ctr">
              <a:buClr>
                <a:srgbClr val="17365D"/>
              </a:buClr>
              <a:buSzPct val="100000"/>
            </a:pPr>
            <a:r>
              <a:rPr lang="en-GB" sz="1800" b="1" dirty="0">
                <a:solidFill>
                  <a:srgbClr val="17365D"/>
                </a:solidFill>
                <a:latin typeface="Cambria" panose="02040503050406030204" pitchFamily="18" charset="0"/>
                <a:ea typeface="Cambria" panose="02040503050406030204" pitchFamily="18" charset="0"/>
                <a:cs typeface="Verdana"/>
                <a:sym typeface="Verdana"/>
              </a:rPr>
              <a:t>CSE</a:t>
            </a:r>
            <a:r>
              <a:rPr lang="en-IN" sz="1800" b="1" dirty="0">
                <a:solidFill>
                  <a:srgbClr val="17365D"/>
                </a:solidFill>
                <a:latin typeface="Cambria" panose="02040503050406030204" pitchFamily="18" charset="0"/>
                <a:ea typeface="Cambria" panose="02040503050406030204" pitchFamily="18" charset="0"/>
                <a:cs typeface="Verdana"/>
                <a:sym typeface="Verdana"/>
              </a:rPr>
              <a:t>7302</a:t>
            </a:r>
            <a:r>
              <a:rPr lang="en-GB" sz="1800" b="1" dirty="0">
                <a:solidFill>
                  <a:srgbClr val="17365D"/>
                </a:solidFill>
                <a:latin typeface="Cambria" panose="02040503050406030204" pitchFamily="18" charset="0"/>
                <a:ea typeface="Cambria" panose="02040503050406030204" pitchFamily="18" charset="0"/>
                <a:cs typeface="Verdana"/>
                <a:sym typeface="Verdana"/>
              </a:rPr>
              <a:t>-</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Review-4</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553347" y="4537364"/>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1800" b="1" dirty="0">
                <a:solidFill>
                  <a:srgbClr val="FF0000"/>
                </a:solidFill>
                <a:latin typeface="Cambria" panose="02040503050406030204" pitchFamily="18" charset="0"/>
                <a:ea typeface="Cambria" panose="02040503050406030204" pitchFamily="18" charset="0"/>
                <a:cs typeface="Verdana"/>
                <a:sym typeface="Verdana"/>
              </a:rPr>
              <a:t>: Dr. Anandaraj SP</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Dr. Sharmasth Vali</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51E67373-2317-F039-3116-F0D01DB0249A}"/>
              </a:ext>
            </a:extLst>
          </p:cNvPr>
          <p:cNvGraphicFramePr>
            <a:graphicFrameLocks noGrp="1"/>
          </p:cNvGraphicFramePr>
          <p:nvPr>
            <p:extLst>
              <p:ext uri="{D42A27DB-BD31-4B8C-83A1-F6EECF244321}">
                <p14:modId xmlns:p14="http://schemas.microsoft.com/office/powerpoint/2010/main" val="2294954243"/>
              </p:ext>
            </p:extLst>
          </p:nvPr>
        </p:nvGraphicFramePr>
        <p:xfrm>
          <a:off x="635494" y="3262890"/>
          <a:ext cx="5336528" cy="1112520"/>
        </p:xfrm>
        <a:graphic>
          <a:graphicData uri="http://schemas.openxmlformats.org/drawingml/2006/table">
            <a:tbl>
              <a:tblPr firstRow="1" bandRow="1"/>
              <a:tblGrid>
                <a:gridCol w="2697641">
                  <a:extLst>
                    <a:ext uri="{9D8B030D-6E8A-4147-A177-3AD203B41FA5}">
                      <a16:colId xmlns:a16="http://schemas.microsoft.com/office/drawing/2014/main" val="3367395382"/>
                    </a:ext>
                  </a:extLst>
                </a:gridCol>
                <a:gridCol w="2638887">
                  <a:extLst>
                    <a:ext uri="{9D8B030D-6E8A-4147-A177-3AD203B41FA5}">
                      <a16:colId xmlns:a16="http://schemas.microsoft.com/office/drawing/2014/main" val="3675861212"/>
                    </a:ext>
                  </a:extLst>
                </a:gridCol>
              </a:tblGrid>
              <a:tr h="370840">
                <a:tc>
                  <a:txBody>
                    <a:bodyPr/>
                    <a:lstStyle/>
                    <a:p>
                      <a:r>
                        <a:rPr lang="en-IN" dirty="0"/>
                        <a:t>20221CIT0130</a:t>
                      </a:r>
                    </a:p>
                  </a:txBody>
                  <a:tcPr/>
                </a:tc>
                <a:tc>
                  <a:txBody>
                    <a:bodyPr/>
                    <a:lstStyle/>
                    <a:p>
                      <a:r>
                        <a:rPr lang="en-IN" dirty="0"/>
                        <a:t>Nithya H D</a:t>
                      </a:r>
                    </a:p>
                  </a:txBody>
                  <a:tcPr/>
                </a:tc>
                <a:extLst>
                  <a:ext uri="{0D108BD9-81ED-4DB2-BD59-A6C34878D82A}">
                    <a16:rowId xmlns:a16="http://schemas.microsoft.com/office/drawing/2014/main" val="379549341"/>
                  </a:ext>
                </a:extLst>
              </a:tr>
              <a:tr h="370840">
                <a:tc>
                  <a:txBody>
                    <a:bodyPr/>
                    <a:lstStyle/>
                    <a:p>
                      <a:r>
                        <a:rPr lang="en-IN" dirty="0"/>
                        <a:t>20221CIT0126</a:t>
                      </a:r>
                    </a:p>
                  </a:txBody>
                  <a:tcPr/>
                </a:tc>
                <a:tc>
                  <a:txBody>
                    <a:bodyPr/>
                    <a:lstStyle/>
                    <a:p>
                      <a:r>
                        <a:rPr lang="en-IN" dirty="0"/>
                        <a:t>Shreya A J</a:t>
                      </a:r>
                    </a:p>
                  </a:txBody>
                  <a:tcPr/>
                </a:tc>
                <a:extLst>
                  <a:ext uri="{0D108BD9-81ED-4DB2-BD59-A6C34878D82A}">
                    <a16:rowId xmlns:a16="http://schemas.microsoft.com/office/drawing/2014/main" val="446000065"/>
                  </a:ext>
                </a:extLst>
              </a:tr>
              <a:tr h="370840">
                <a:tc>
                  <a:txBody>
                    <a:bodyPr/>
                    <a:lstStyle/>
                    <a:p>
                      <a:r>
                        <a:rPr lang="en-IN" dirty="0"/>
                        <a:t>20221CIT0123</a:t>
                      </a:r>
                    </a:p>
                  </a:txBody>
                  <a:tcPr/>
                </a:tc>
                <a:tc>
                  <a:txBody>
                    <a:bodyPr/>
                    <a:lstStyle/>
                    <a:p>
                      <a:r>
                        <a:rPr lang="en-IN" dirty="0"/>
                        <a:t>Manisha S M</a:t>
                      </a:r>
                    </a:p>
                  </a:txBody>
                  <a:tcPr/>
                </a:tc>
                <a:extLst>
                  <a:ext uri="{0D108BD9-81ED-4DB2-BD59-A6C34878D82A}">
                    <a16:rowId xmlns:a16="http://schemas.microsoft.com/office/drawing/2014/main" val="1190640597"/>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Number:SIH25008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952499"/>
            <a:ext cx="10668000" cy="5271319"/>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sz="1800" b="1" dirty="0">
                <a:latin typeface="Cambria" panose="02040503050406030204" pitchFamily="18" charset="0"/>
                <a:ea typeface="Cambria" panose="02040503050406030204" pitchFamily="18" charset="0"/>
              </a:rPr>
              <a:t>Organization: </a:t>
            </a:r>
            <a:r>
              <a:rPr lang="en-US" sz="1800" dirty="0">
                <a:latin typeface="Cambria" panose="02040503050406030204" pitchFamily="18" charset="0"/>
                <a:ea typeface="Cambria" panose="02040503050406030204" pitchFamily="18" charset="0"/>
              </a:rPr>
              <a:t>Presidency University</a:t>
            </a:r>
          </a:p>
          <a:p>
            <a:pPr marL="342900" lvl="0" indent="-190500" algn="just">
              <a:lnSpc>
                <a:spcPct val="200000"/>
              </a:lnSpc>
              <a:spcBef>
                <a:spcPts val="0"/>
              </a:spcBef>
              <a:buNone/>
            </a:pPr>
            <a:r>
              <a:rPr lang="en-US" sz="1800" b="1" dirty="0">
                <a:latin typeface="Cambria" panose="02040503050406030204" pitchFamily="18" charset="0"/>
                <a:ea typeface="Cambria" panose="02040503050406030204" pitchFamily="18" charset="0"/>
              </a:rPr>
              <a:t>Category (Hardware / Software / Both) :</a:t>
            </a:r>
            <a:r>
              <a:rPr lang="en-US" sz="1800" dirty="0">
                <a:latin typeface="Cambria" panose="02040503050406030204" pitchFamily="18" charset="0"/>
                <a:ea typeface="Cambria" panose="02040503050406030204" pitchFamily="18" charset="0"/>
              </a:rPr>
              <a:t>Software</a:t>
            </a:r>
          </a:p>
          <a:p>
            <a:pPr marL="342900" lvl="0" indent="-190500">
              <a:lnSpc>
                <a:spcPct val="200000"/>
              </a:lnSpc>
              <a:spcBef>
                <a:spcPts val="0"/>
              </a:spcBef>
              <a:buNone/>
            </a:pPr>
            <a:r>
              <a:rPr lang="en-US" sz="1800" b="1" dirty="0">
                <a:latin typeface="Cambria" panose="02040503050406030204" pitchFamily="18" charset="0"/>
                <a:ea typeface="Cambria" panose="02040503050406030204" pitchFamily="18" charset="0"/>
              </a:rPr>
              <a:t>Problem Description:</a:t>
            </a:r>
            <a:br>
              <a:rPr lang="en-US" sz="1800" b="1" dirty="0">
                <a:latin typeface="Cambria" panose="02040503050406030204" pitchFamily="18" charset="0"/>
                <a:ea typeface="Cambria" panose="02040503050406030204" pitchFamily="18" charset="0"/>
              </a:rPr>
            </a:br>
            <a:r>
              <a:rPr lang="en-US" sz="1800" dirty="0">
                <a:latin typeface="Cambria" panose="02040503050406030204" pitchFamily="18" charset="0"/>
                <a:ea typeface="Cambria" panose="02040503050406030204" pitchFamily="18" charset="0"/>
                <a:cs typeface="Times New Roman" panose="02020603050405020304" pitchFamily="18" charset="0"/>
              </a:rPr>
              <a:t>In India, schools and colleges are often unprepared for natural disasters such as earthquakes, floods, and fires. While emergency guidelines exist on paper, there is a lack of structured disaster management education integrated into the curriculum. Institutions lack digital tools to simulate disaster scenarios or conduct virtual drills to train students and staff on safety protocols.</a:t>
            </a:r>
            <a:br>
              <a:rPr lang="en-US" sz="1800" dirty="0">
                <a:latin typeface="Cambria" panose="02040503050406030204" pitchFamily="18" charset="0"/>
                <a:ea typeface="Cambria" panose="02040503050406030204" pitchFamily="18" charset="0"/>
                <a:cs typeface="Times New Roman" panose="02020603050405020304" pitchFamily="18" charset="0"/>
              </a:rPr>
            </a:br>
            <a:r>
              <a:rPr lang="en-US" sz="1800" dirty="0">
                <a:latin typeface="Cambria" panose="02040503050406030204" pitchFamily="18" charset="0"/>
                <a:ea typeface="Cambria" panose="02040503050406030204" pitchFamily="18" charset="0"/>
                <a:cs typeface="Times New Roman" panose="02020603050405020304" pitchFamily="18" charset="0"/>
              </a:rPr>
              <a:t>Furthermore, there’s a gap in localized awareness—many students are unaware of how to react during disasters specific to their region. Manual drills, where they occur, are infrequent and often poorly coordinated, failing to instill practical preparedness.</a:t>
            </a:r>
            <a:br>
              <a:rPr lang="en-US" sz="1800" dirty="0">
                <a:latin typeface="Cambria" panose="02040503050406030204" pitchFamily="18" charset="0"/>
                <a:ea typeface="Cambria" panose="02040503050406030204" pitchFamily="18" charset="0"/>
                <a:cs typeface="Times New Roman" panose="02020603050405020304" pitchFamily="18" charset="0"/>
              </a:rPr>
            </a:br>
            <a:endParaRPr lang="en-US" sz="1800"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45391" y="1061028"/>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146A9-8CD8-D5DC-9622-99339CE36BC9}"/>
              </a:ext>
            </a:extLst>
          </p:cNvPr>
          <p:cNvSpPr>
            <a:spLocks noGrp="1"/>
          </p:cNvSpPr>
          <p:nvPr>
            <p:ph type="title"/>
          </p:nvPr>
        </p:nvSpPr>
        <p:spPr/>
        <p:txBody>
          <a:bodyPr/>
          <a:lstStyle/>
          <a:p>
            <a:r>
              <a:rPr lang="en-US" dirty="0"/>
              <a:t>Final Architecture</a:t>
            </a:r>
            <a:endParaRPr lang="en-IN" dirty="0"/>
          </a:p>
        </p:txBody>
      </p:sp>
      <p:sp>
        <p:nvSpPr>
          <p:cNvPr id="3" name="Text Placeholder 2">
            <a:extLst>
              <a:ext uri="{FF2B5EF4-FFF2-40B4-BE49-F238E27FC236}">
                <a16:creationId xmlns:a16="http://schemas.microsoft.com/office/drawing/2014/main" id="{6242655A-76CE-6F23-9FCB-8B8A1C6214B2}"/>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6418AA80-CDDD-B112-CD60-365275C47311}"/>
              </a:ext>
            </a:extLst>
          </p:cNvPr>
          <p:cNvPicPr>
            <a:picLocks noChangeAspect="1"/>
          </p:cNvPicPr>
          <p:nvPr/>
        </p:nvPicPr>
        <p:blipFill>
          <a:blip r:embed="rId2"/>
          <a:stretch>
            <a:fillRect/>
          </a:stretch>
        </p:blipFill>
        <p:spPr>
          <a:xfrm>
            <a:off x="711200" y="1012371"/>
            <a:ext cx="10769600" cy="5083630"/>
          </a:xfrm>
          <a:prstGeom prst="rect">
            <a:avLst/>
          </a:prstGeom>
        </p:spPr>
      </p:pic>
    </p:spTree>
    <p:extLst>
      <p:ext uri="{BB962C8B-B14F-4D97-AF65-F5344CB8AC3E}">
        <p14:creationId xmlns:p14="http://schemas.microsoft.com/office/powerpoint/2010/main" val="3911107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F09F7-EE00-276E-09A9-F3E38534D661}"/>
              </a:ext>
            </a:extLst>
          </p:cNvPr>
          <p:cNvSpPr>
            <a:spLocks noGrp="1"/>
          </p:cNvSpPr>
          <p:nvPr>
            <p:ph type="title"/>
          </p:nvPr>
        </p:nvSpPr>
        <p:spPr/>
        <p:txBody>
          <a:bodyPr/>
          <a:lstStyle/>
          <a:p>
            <a:r>
              <a:rPr lang="en-US" dirty="0"/>
              <a:t>Features Implemented</a:t>
            </a:r>
            <a:endParaRPr lang="en-IN" dirty="0"/>
          </a:p>
        </p:txBody>
      </p:sp>
      <p:sp>
        <p:nvSpPr>
          <p:cNvPr id="3" name="Text Placeholder 2">
            <a:extLst>
              <a:ext uri="{FF2B5EF4-FFF2-40B4-BE49-F238E27FC236}">
                <a16:creationId xmlns:a16="http://schemas.microsoft.com/office/drawing/2014/main" id="{9A138B3D-D045-CD04-010A-A0780EA19242}"/>
              </a:ext>
            </a:extLst>
          </p:cNvPr>
          <p:cNvSpPr>
            <a:spLocks noGrp="1"/>
          </p:cNvSpPr>
          <p:nvPr>
            <p:ph type="body" idx="1"/>
          </p:nvPr>
        </p:nvSpPr>
        <p:spPr/>
        <p:txBody>
          <a:bodyPr/>
          <a:lstStyle/>
          <a:p>
            <a:pPr marL="76200" indent="0">
              <a:buNone/>
            </a:pPr>
            <a:r>
              <a:rPr lang="en-IN" dirty="0"/>
              <a:t>✔ Secure Login</a:t>
            </a:r>
            <a:br>
              <a:rPr lang="en-IN" dirty="0"/>
            </a:br>
            <a:r>
              <a:rPr lang="en-IN" dirty="0"/>
              <a:t>✔ Chatbot Query Support</a:t>
            </a:r>
            <a:br>
              <a:rPr lang="en-IN" dirty="0"/>
            </a:br>
            <a:r>
              <a:rPr lang="en-IN" dirty="0"/>
              <a:t>✔ Disaster Resources</a:t>
            </a:r>
            <a:br>
              <a:rPr lang="en-IN" dirty="0"/>
            </a:br>
            <a:r>
              <a:rPr lang="en-IN" dirty="0"/>
              <a:t>✔ Fast Navigation</a:t>
            </a:r>
            <a:br>
              <a:rPr lang="en-IN" dirty="0"/>
            </a:br>
            <a:r>
              <a:rPr lang="en-IN" dirty="0"/>
              <a:t>✔ Responsive Design</a:t>
            </a:r>
          </a:p>
        </p:txBody>
      </p:sp>
    </p:spTree>
    <p:extLst>
      <p:ext uri="{BB962C8B-B14F-4D97-AF65-F5344CB8AC3E}">
        <p14:creationId xmlns:p14="http://schemas.microsoft.com/office/powerpoint/2010/main" val="3595362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BC9D8-5F57-6423-FFF7-19A87E47D5DD}"/>
              </a:ext>
            </a:extLst>
          </p:cNvPr>
          <p:cNvSpPr>
            <a:spLocks noGrp="1"/>
          </p:cNvSpPr>
          <p:nvPr>
            <p:ph type="title"/>
          </p:nvPr>
        </p:nvSpPr>
        <p:spPr/>
        <p:txBody>
          <a:bodyPr/>
          <a:lstStyle/>
          <a:p>
            <a:r>
              <a:rPr lang="en-IN" dirty="0"/>
              <a:t>Performance Optimization</a:t>
            </a:r>
          </a:p>
        </p:txBody>
      </p:sp>
      <p:sp>
        <p:nvSpPr>
          <p:cNvPr id="3" name="Text Placeholder 2">
            <a:extLst>
              <a:ext uri="{FF2B5EF4-FFF2-40B4-BE49-F238E27FC236}">
                <a16:creationId xmlns:a16="http://schemas.microsoft.com/office/drawing/2014/main" id="{AD14B05F-6BCC-5F09-7FF8-3288FBA8525A}"/>
              </a:ext>
            </a:extLst>
          </p:cNvPr>
          <p:cNvSpPr>
            <a:spLocks noGrp="1"/>
          </p:cNvSpPr>
          <p:nvPr>
            <p:ph type="body" idx="1"/>
          </p:nvPr>
        </p:nvSpPr>
        <p:spPr/>
        <p:txBody>
          <a:bodyPr/>
          <a:lstStyle/>
          <a:p>
            <a:pPr marL="76200" indent="0">
              <a:buNone/>
            </a:pPr>
            <a:r>
              <a:rPr lang="en-US" b="1" dirty="0"/>
              <a:t>Implemented:</a:t>
            </a:r>
          </a:p>
          <a:p>
            <a:r>
              <a:rPr lang="en-US" dirty="0"/>
              <a:t>Lazy Loading </a:t>
            </a:r>
          </a:p>
          <a:p>
            <a:r>
              <a:rPr lang="en-US" dirty="0"/>
              <a:t>next/image </a:t>
            </a:r>
          </a:p>
          <a:p>
            <a:r>
              <a:rPr lang="en-US" dirty="0"/>
              <a:t>Dynamic Imports </a:t>
            </a:r>
          </a:p>
          <a:p>
            <a:r>
              <a:rPr lang="en-US" dirty="0"/>
              <a:t>Optimized Firebase Listeners</a:t>
            </a:r>
          </a:p>
          <a:p>
            <a:endParaRPr lang="en-IN" dirty="0"/>
          </a:p>
        </p:txBody>
      </p:sp>
    </p:spTree>
    <p:extLst>
      <p:ext uri="{BB962C8B-B14F-4D97-AF65-F5344CB8AC3E}">
        <p14:creationId xmlns:p14="http://schemas.microsoft.com/office/powerpoint/2010/main" val="3709853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EC8D8-C048-EF5A-6DEB-590DFA464135}"/>
              </a:ext>
            </a:extLst>
          </p:cNvPr>
          <p:cNvSpPr>
            <a:spLocks noGrp="1"/>
          </p:cNvSpPr>
          <p:nvPr>
            <p:ph type="title"/>
          </p:nvPr>
        </p:nvSpPr>
        <p:spPr/>
        <p:txBody>
          <a:bodyPr/>
          <a:lstStyle/>
          <a:p>
            <a:r>
              <a:rPr lang="en-IN" dirty="0"/>
              <a:t>Challenges Solved</a:t>
            </a:r>
          </a:p>
        </p:txBody>
      </p:sp>
      <p:sp>
        <p:nvSpPr>
          <p:cNvPr id="4" name="Rectangle 1">
            <a:extLst>
              <a:ext uri="{FF2B5EF4-FFF2-40B4-BE49-F238E27FC236}">
                <a16:creationId xmlns:a16="http://schemas.microsoft.com/office/drawing/2014/main" id="{FB5F5601-074C-54B5-F29F-0C0CB018AF0C}"/>
              </a:ext>
            </a:extLst>
          </p:cNvPr>
          <p:cNvSpPr>
            <a:spLocks noGrp="1" noChangeArrowheads="1"/>
          </p:cNvSpPr>
          <p:nvPr>
            <p:ph type="body" idx="1"/>
          </p:nvPr>
        </p:nvSpPr>
        <p:spPr bwMode="auto">
          <a:xfrm>
            <a:off x="812800" y="1423227"/>
            <a:ext cx="9855200"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GitHub push error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Missing environment variables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Domain DNS issue </a:t>
            </a:r>
          </a:p>
        </p:txBody>
      </p:sp>
    </p:spTree>
    <p:extLst>
      <p:ext uri="{BB962C8B-B14F-4D97-AF65-F5344CB8AC3E}">
        <p14:creationId xmlns:p14="http://schemas.microsoft.com/office/powerpoint/2010/main" val="2983398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6333173-9F11-DC4B-BFCB-436B217A09F8}"/>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B20A99D8-C187-B693-557D-9EC915073848}"/>
              </a:ext>
            </a:extLst>
          </p:cNvPr>
          <p:cNvSpPr txBox="1">
            <a:spLocks noGrp="1"/>
          </p:cNvSpPr>
          <p:nvPr>
            <p:ph type="title"/>
          </p:nvPr>
        </p:nvSpPr>
        <p:spPr>
          <a:xfrm>
            <a:off x="812800" y="553760"/>
            <a:ext cx="10668000" cy="487500"/>
          </a:xfrm>
          <a:prstGeom prst="rect">
            <a:avLst/>
          </a:prstGeom>
          <a:noFill/>
          <a:ln>
            <a:noFill/>
          </a:ln>
        </p:spPr>
        <p:txBody>
          <a:bodyPr spcFirstLastPara="1" wrap="square" lIns="91425" tIns="45700" rIns="91425" bIns="45700" anchor="ctr" anchorCtr="0">
            <a:noAutofit/>
          </a:bodyPr>
          <a:lstStyle/>
          <a:p>
            <a:r>
              <a:rPr lang="en-US" dirty="0">
                <a:latin typeface="Cambria" panose="02040503050406030204" pitchFamily="18" charset="0"/>
                <a:ea typeface="Cambria" panose="02040503050406030204" pitchFamily="18" charset="0"/>
              </a:rPr>
              <a:t>Background and Related work for title Selection</a:t>
            </a:r>
            <a:br>
              <a:rPr lang="en-US" dirty="0">
                <a:latin typeface="Cambria" panose="02040503050406030204" pitchFamily="18" charset="0"/>
                <a:ea typeface="Cambria" panose="02040503050406030204" pitchFamily="18" charset="0"/>
              </a:rPr>
            </a:b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88049951-2A0E-D568-A464-AA8D137B00E7}"/>
              </a:ext>
            </a:extLst>
          </p:cNvPr>
          <p:cNvSpPr>
            <a:spLocks noGrp="1" noChangeArrowheads="1"/>
          </p:cNvSpPr>
          <p:nvPr>
            <p:ph type="body" idx="1"/>
          </p:nvPr>
        </p:nvSpPr>
        <p:spPr bwMode="auto">
          <a:xfrm>
            <a:off x="812800" y="1074509"/>
            <a:ext cx="1052368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India frequently faces natural disasters such as floods, earthquakes, and fires, making disaster preparedness essential in educational institutions.</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Schools and colleges currently rely on </a:t>
            </a:r>
            <a:r>
              <a:rPr lang="en-US" sz="2000" b="1" dirty="0">
                <a:latin typeface="Cambria" panose="02040503050406030204" pitchFamily="18" charset="0"/>
                <a:ea typeface="Cambria" panose="02040503050406030204" pitchFamily="18" charset="0"/>
              </a:rPr>
              <a:t>theoretical guidelines</a:t>
            </a:r>
            <a:r>
              <a:rPr lang="en-US" sz="2000" dirty="0">
                <a:latin typeface="Cambria" panose="02040503050406030204" pitchFamily="18" charset="0"/>
                <a:ea typeface="Cambria" panose="02040503050406030204" pitchFamily="18" charset="0"/>
              </a:rPr>
              <a:t> with minimal practical training.</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Existing research mainly focuses on </a:t>
            </a:r>
            <a:r>
              <a:rPr lang="en-US" sz="2000" b="1" dirty="0">
                <a:latin typeface="Cambria" panose="02040503050406030204" pitchFamily="18" charset="0"/>
                <a:ea typeface="Cambria" panose="02040503050406030204" pitchFamily="18" charset="0"/>
              </a:rPr>
              <a:t>general disaster management systems</a:t>
            </a:r>
            <a:r>
              <a:rPr lang="en-US" sz="2000" dirty="0">
                <a:latin typeface="Cambria" panose="02040503050406030204" pitchFamily="18" charset="0"/>
                <a:ea typeface="Cambria" panose="02040503050406030204" pitchFamily="18" charset="0"/>
              </a:rPr>
              <a:t> rather than student-centered education.</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Few studies address </a:t>
            </a:r>
            <a:r>
              <a:rPr lang="en-US" sz="2000" b="1" dirty="0">
                <a:latin typeface="Cambria" panose="02040503050406030204" pitchFamily="18" charset="0"/>
                <a:ea typeface="Cambria" panose="02040503050406030204" pitchFamily="18" charset="0"/>
              </a:rPr>
              <a:t>digital learning platforms or virtual simulations</a:t>
            </a:r>
            <a:r>
              <a:rPr lang="en-US" sz="2000" dirty="0">
                <a:latin typeface="Cambria" panose="02040503050406030204" pitchFamily="18" charset="0"/>
                <a:ea typeface="Cambria" panose="02040503050406030204" pitchFamily="18" charset="0"/>
              </a:rPr>
              <a:t> for disaster preparedness in schools and colleges.</a:t>
            </a:r>
          </a:p>
          <a:p>
            <a:pPr marL="0" lvl="0" indent="0" eaLnBrk="0" fontAlgn="base" hangingPunct="0">
              <a:lnSpc>
                <a:spcPct val="150000"/>
              </a:lnSpc>
              <a:spcBef>
                <a:spcPct val="0"/>
              </a:spcBef>
              <a:spcAft>
                <a:spcPct val="0"/>
              </a:spcAft>
              <a:buClrTx/>
              <a:buSzTx/>
              <a:buFontTx/>
              <a:buChar char="•"/>
            </a:pPr>
            <a:r>
              <a:rPr lang="en-US" sz="2000" dirty="0">
                <a:latin typeface="Cambria" panose="02040503050406030204" pitchFamily="18" charset="0"/>
                <a:ea typeface="Cambria" panose="02040503050406030204" pitchFamily="18" charset="0"/>
              </a:rPr>
              <a:t>Hence, this project is proposed to provide practical, digital, and structured disaster education for students.</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37369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077329F-0DD8-FD18-0380-5DC16773CAD5}"/>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AE8E8A0F-1865-A26F-1A36-0037BD0FAE7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55104F7B-E917-752E-E5EC-34E18D3B2508}"/>
              </a:ext>
            </a:extLst>
          </p:cNvPr>
          <p:cNvSpPr txBox="1">
            <a:spLocks noGrp="1"/>
          </p:cNvSpPr>
          <p:nvPr>
            <p:ph type="body" idx="1"/>
          </p:nvPr>
        </p:nvSpPr>
        <p:spPr>
          <a:xfrm>
            <a:off x="655782" y="953729"/>
            <a:ext cx="10668000" cy="4075471"/>
          </a:xfrm>
          <a:prstGeom prst="rect">
            <a:avLst/>
          </a:prstGeom>
          <a:noFill/>
          <a:ln>
            <a:noFill/>
          </a:ln>
        </p:spPr>
        <p:txBody>
          <a:bodyPr spcFirstLastPara="1" wrap="square" lIns="91425" tIns="45700" rIns="91425" bIns="45700" anchor="t" anchorCtr="0">
            <a:noAutofit/>
          </a:bodyPr>
          <a:lstStyle/>
          <a:p>
            <a:pPr marL="495300" indent="-342900" algn="just">
              <a:lnSpc>
                <a:spcPct val="110000"/>
              </a:lnSpc>
              <a:spcBef>
                <a:spcPts val="0"/>
              </a:spcBef>
            </a:pPr>
            <a:r>
              <a:rPr lang="en-US" sz="2000" dirty="0">
                <a:latin typeface="Cambria" panose="02040503050406030204" pitchFamily="18" charset="0"/>
                <a:ea typeface="Cambria" panose="02040503050406030204" pitchFamily="18" charset="0"/>
              </a:rPr>
              <a:t>To design and develop a digital disaster preparedness and response education system that equips students and staff in schools and colleges with structured, practical knowledge to effectively respond to natural disasters.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provide region-specific disaster awareness</a:t>
            </a:r>
            <a:r>
              <a:rPr lang="en-US" sz="2000" dirty="0">
                <a:latin typeface="Cambria" panose="02040503050406030204" pitchFamily="18" charset="0"/>
                <a:ea typeface="Cambria" panose="02040503050406030204" pitchFamily="18" charset="0"/>
              </a:rPr>
              <a:t> by educating users about disasters commonly occurring in their geographical area (such as floods, earthquakes, cyclones, or fires).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simulate real-life disaster scenarios through virtual drills and interactive modules</a:t>
            </a:r>
            <a:r>
              <a:rPr lang="en-US" sz="2000" dirty="0">
                <a:latin typeface="Cambria" panose="02040503050406030204" pitchFamily="18" charset="0"/>
                <a:ea typeface="Cambria" panose="02040503050406030204" pitchFamily="18" charset="0"/>
              </a:rPr>
              <a:t>, enabling students to practice safety protocols in a risk-free environment.</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improve preparedness and response skills of students and staff</a:t>
            </a:r>
            <a:r>
              <a:rPr lang="en-US" sz="2000" dirty="0">
                <a:latin typeface="Cambria" panose="02040503050406030204" pitchFamily="18" charset="0"/>
                <a:ea typeface="Cambria" panose="02040503050406030204" pitchFamily="18" charset="0"/>
              </a:rPr>
              <a:t> by training them on evacuation procedures, first aid, emergency communication, and safety measures.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overcome limitations of manual disaster drills</a:t>
            </a:r>
            <a:r>
              <a:rPr lang="en-US" sz="2000" dirty="0">
                <a:latin typeface="Cambria" panose="02040503050406030204" pitchFamily="18" charset="0"/>
                <a:ea typeface="Cambria" panose="02040503050406030204" pitchFamily="18" charset="0"/>
              </a:rPr>
              <a:t> by offering frequent, scalable, and well-coordinated digital training sessions.</a:t>
            </a:r>
          </a:p>
          <a:p>
            <a:pPr marL="495300" indent="-342900" algn="just">
              <a:lnSpc>
                <a:spcPct val="110000"/>
              </a:lnSpc>
              <a:spcBef>
                <a:spcPts val="0"/>
              </a:spcBef>
            </a:pPr>
            <a:r>
              <a:rPr lang="en-US" sz="2000" b="1" dirty="0">
                <a:latin typeface="Cambria" panose="02040503050406030204" pitchFamily="18" charset="0"/>
                <a:ea typeface="Cambria" panose="02040503050406030204" pitchFamily="18" charset="0"/>
              </a:rPr>
              <a:t>To promote a culture of safety and resilience within educational institutions</a:t>
            </a:r>
            <a:r>
              <a:rPr lang="en-US" sz="2000" dirty="0">
                <a:latin typeface="Cambria" panose="02040503050406030204" pitchFamily="18" charset="0"/>
                <a:ea typeface="Cambria" panose="02040503050406030204" pitchFamily="18" charset="0"/>
              </a:rPr>
              <a:t> by encouraging continuous learning and awareness in disaster risk reduction.</a:t>
            </a:r>
          </a:p>
        </p:txBody>
      </p:sp>
    </p:spTree>
    <p:extLst>
      <p:ext uri="{BB962C8B-B14F-4D97-AF65-F5344CB8AC3E}">
        <p14:creationId xmlns:p14="http://schemas.microsoft.com/office/powerpoint/2010/main" val="2892618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E735F89C-E2BA-54D8-CDD5-5CBA4E5A0769}"/>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88311C06-0E13-B644-05F7-D0C77E61E4E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a:extLst>
              <a:ext uri="{FF2B5EF4-FFF2-40B4-BE49-F238E27FC236}">
                <a16:creationId xmlns:a16="http://schemas.microsoft.com/office/drawing/2014/main" id="{B74A1F8D-3876-0777-9BD7-871D65F2E1CC}"/>
              </a:ext>
            </a:extLst>
          </p:cNvPr>
          <p:cNvSpPr txBox="1">
            <a:spLocks noGrp="1"/>
          </p:cNvSpPr>
          <p:nvPr>
            <p:ph type="body" idx="1"/>
          </p:nvPr>
        </p:nvSpPr>
        <p:spPr>
          <a:xfrm>
            <a:off x="812800" y="1194955"/>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0CF3C343-7741-475C-BCF2-FF989935B679}"/>
              </a:ext>
            </a:extLst>
          </p:cNvPr>
          <p:cNvSpPr>
            <a:spLocks noChangeArrowheads="1"/>
          </p:cNvSpPr>
          <p:nvPr/>
        </p:nvSpPr>
        <p:spPr bwMode="auto">
          <a:xfrm>
            <a:off x="958850" y="1593963"/>
            <a:ext cx="102743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Frontend:</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HTML, CSS, JavaScript – for building a responsive and user-friendly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Backend:</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Java / Python (Flask/Django) / Node.js – for handling application logic and user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Database:</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MySQL / MongoDB – to store user data, training records, and assessment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Simulation &amp; Learning Modules:</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Interactive web-based simulations and quizzes for disaster scenarios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Deployment Platform:</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Cloud-based hosting (AWS / Azure / Local Server) for scalability and accessibility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Tools &amp; APIs:</a:t>
            </a: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Maps API, Notification services, and Analytics tools for location-based awareness and performance tracking</a:t>
            </a:r>
          </a:p>
        </p:txBody>
      </p:sp>
    </p:spTree>
    <p:extLst>
      <p:ext uri="{BB962C8B-B14F-4D97-AF65-F5344CB8AC3E}">
        <p14:creationId xmlns:p14="http://schemas.microsoft.com/office/powerpoint/2010/main" val="1100272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the Website</a:t>
            </a:r>
          </a:p>
        </p:txBody>
      </p:sp>
      <p:sp>
        <p:nvSpPr>
          <p:cNvPr id="4" name="Rectangle 1"/>
          <p:cNvSpPr>
            <a:spLocks noGrp="1" noChangeArrowheads="1"/>
          </p:cNvSpPr>
          <p:nvPr>
            <p:ph type="body" idx="1"/>
          </p:nvPr>
        </p:nvSpPr>
        <p:spPr bwMode="auto">
          <a:xfrm>
            <a:off x="672841" y="954886"/>
            <a:ext cx="7688323"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Information about fire types and extinguishers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Step-by-step guide to use fire extinguishers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Disaster preparedness tips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Quiz section for user engagement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User input form for participation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Attractive UI with images and navigation </a:t>
            </a:r>
          </a:p>
        </p:txBody>
      </p:sp>
    </p:spTree>
    <p:extLst>
      <p:ext uri="{BB962C8B-B14F-4D97-AF65-F5344CB8AC3E}">
        <p14:creationId xmlns:p14="http://schemas.microsoft.com/office/powerpoint/2010/main" val="549603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Disaster Management</a:t>
            </a:r>
          </a:p>
        </p:txBody>
      </p:sp>
      <p:sp>
        <p:nvSpPr>
          <p:cNvPr id="4" name="Rectangle 1"/>
          <p:cNvSpPr>
            <a:spLocks noGrp="1" noChangeArrowheads="1"/>
          </p:cNvSpPr>
          <p:nvPr>
            <p:ph type="body" idx="1"/>
          </p:nvPr>
        </p:nvSpPr>
        <p:spPr bwMode="auto">
          <a:xfrm>
            <a:off x="812800" y="1280399"/>
            <a:ext cx="10063973"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Arial" panose="020B0604020202020204" pitchFamily="34" charset="0"/>
              </a:rPr>
              <a:t>Planning and preparation for emergencies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Arial" panose="020B0604020202020204" pitchFamily="34" charset="0"/>
              </a:rPr>
              <a:t>Steps include: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Arial" panose="020B0604020202020204" pitchFamily="34" charset="0"/>
              </a:rPr>
              <a:t>Prevention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Arial" panose="020B0604020202020204" pitchFamily="34" charset="0"/>
              </a:rPr>
              <a:t>Preparedness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Arial" panose="020B0604020202020204" pitchFamily="34" charset="0"/>
              </a:rPr>
              <a:t>Response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Arial" panose="020B0604020202020204" pitchFamily="34" charset="0"/>
              </a:rPr>
              <a:t>Recovery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92737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r>
              <a:rPr lang="en-US" dirty="0">
                <a:latin typeface="Cambria" panose="02040503050406030204" pitchFamily="18" charset="0"/>
                <a:ea typeface="Cambria" panose="02040503050406030204" pitchFamily="18" charset="0"/>
              </a:rPr>
              <a:t>https://github.com/nithyahd/safelearn</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627ADCA6-FCE2-03FD-978D-5099807D9C5B}"/>
              </a:ext>
            </a:extLst>
          </p:cNvPr>
          <p:cNvPicPr>
            <a:picLocks noChangeAspect="1"/>
          </p:cNvPicPr>
          <p:nvPr/>
        </p:nvPicPr>
        <p:blipFill>
          <a:blip r:embed="rId3"/>
          <a:stretch>
            <a:fillRect/>
          </a:stretch>
        </p:blipFill>
        <p:spPr>
          <a:xfrm>
            <a:off x="952500" y="976745"/>
            <a:ext cx="10287000" cy="510193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230909" y="862446"/>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sz="2200" dirty="0">
              <a:latin typeface="Cambria" panose="02040503050406030204" pitchFamily="18" charset="0"/>
              <a:ea typeface="Cambria" panose="02040503050406030204" pitchFamily="18" charset="0"/>
            </a:endParaRPr>
          </a:p>
          <a:p>
            <a:pPr marL="609600" lvl="1" indent="0">
              <a:spcBef>
                <a:spcPts val="0"/>
              </a:spcBef>
              <a:buNone/>
            </a:pPr>
            <a:r>
              <a:rPr lang="en-US" sz="2200" b="1" dirty="0">
                <a:latin typeface="Cambria" panose="02040503050406030204" pitchFamily="18" charset="0"/>
                <a:ea typeface="Cambria" panose="02040503050406030204" pitchFamily="18" charset="0"/>
              </a:rPr>
              <a:t>[1]</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S. Shaw, R. Takeuchi, and S. K. Jain,</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a:t>
            </a:r>
            <a:r>
              <a:rPr lang="en-US" sz="2200" b="1" dirty="0">
                <a:latin typeface="Cambria" panose="02040503050406030204" pitchFamily="18" charset="0"/>
                <a:ea typeface="Cambria" panose="02040503050406030204" pitchFamily="18" charset="0"/>
              </a:rPr>
              <a:t>Disaster education and preparedness: A systematic review of school-based disaster risk reduction programs</a:t>
            </a:r>
            <a:r>
              <a:rPr lang="en-US" sz="2200" dirty="0">
                <a:latin typeface="Cambria" panose="02040503050406030204" pitchFamily="18" charset="0"/>
                <a:ea typeface="Cambria" panose="02040503050406030204" pitchFamily="18" charset="0"/>
              </a:rPr>
              <a:t>,”</a:t>
            </a:r>
          </a:p>
          <a:p>
            <a:pPr marL="609600" lvl="1" indent="0">
              <a:spcBef>
                <a:spcPts val="0"/>
              </a:spcBef>
              <a:buNone/>
            </a:pPr>
            <a:endParaRPr lang="en-US" sz="2200" dirty="0">
              <a:latin typeface="Cambria" panose="02040503050406030204" pitchFamily="18" charset="0"/>
              <a:ea typeface="Cambria" panose="02040503050406030204" pitchFamily="18" charset="0"/>
            </a:endParaRPr>
          </a:p>
          <a:p>
            <a:pPr marL="609600" lvl="1" indent="0">
              <a:spcBef>
                <a:spcPts val="0"/>
              </a:spcBef>
              <a:buNone/>
            </a:pPr>
            <a:r>
              <a:rPr lang="en-US" sz="2200" dirty="0">
                <a:latin typeface="Cambria" panose="02040503050406030204" pitchFamily="18" charset="0"/>
                <a:ea typeface="Cambria" panose="02040503050406030204" pitchFamily="18" charset="0"/>
              </a:rPr>
              <a:t>[2] A. R. Mishra and P. K. Singh,</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a:t>
            </a:r>
            <a:r>
              <a:rPr lang="en-US" sz="2200" b="1" dirty="0">
                <a:latin typeface="Cambria" panose="02040503050406030204" pitchFamily="18" charset="0"/>
                <a:ea typeface="Cambria" panose="02040503050406030204" pitchFamily="18" charset="0"/>
              </a:rPr>
              <a:t>A digital framework for disaster preparedness and emergency response training using simulation-based learning</a:t>
            </a:r>
            <a:r>
              <a:rPr lang="en-US" sz="2200" dirty="0">
                <a:latin typeface="Cambria" panose="02040503050406030204" pitchFamily="18" charset="0"/>
                <a:ea typeface="Cambria" panose="02040503050406030204" pitchFamily="18" charset="0"/>
              </a:rPr>
              <a:t>,”</a:t>
            </a:r>
          </a:p>
          <a:p>
            <a:pPr marL="609600" lvl="1"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lang="en-US" sz="2200" dirty="0">
              <a:latin typeface="Cambria" panose="02040503050406030204" pitchFamily="18" charset="0"/>
              <a:ea typeface="Cambria" panose="02040503050406030204" pitchFamily="18" charset="0"/>
            </a:endParaRPr>
          </a:p>
          <a:p>
            <a:pPr marL="152400" indent="0">
              <a:spcBef>
                <a:spcPts val="0"/>
              </a:spcBef>
              <a:buNone/>
            </a:pPr>
            <a:endParaRPr sz="2200" dirty="0">
              <a:latin typeface="Cambria" panose="02040503050406030204" pitchFamily="18" charset="0"/>
              <a:ea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291</TotalTime>
  <Words>824</Words>
  <Application>Microsoft Office PowerPoint</Application>
  <PresentationFormat>Widescreen</PresentationFormat>
  <Paragraphs>111</Paragraphs>
  <Slides>16</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Cambria</vt:lpstr>
      <vt:lpstr>Verdana</vt:lpstr>
      <vt:lpstr>Wingdings</vt:lpstr>
      <vt:lpstr>Bioinformatics</vt:lpstr>
      <vt:lpstr>Disaster Preparedness and Response Education System for  Schools and Colleges</vt:lpstr>
      <vt:lpstr>Problem Statement Number:SIH25008 </vt:lpstr>
      <vt:lpstr>Content</vt:lpstr>
      <vt:lpstr>Final Architecture</vt:lpstr>
      <vt:lpstr>Features Implemented</vt:lpstr>
      <vt:lpstr>Performance Optimization</vt:lpstr>
      <vt:lpstr>Challenges Solved</vt:lpstr>
      <vt:lpstr>Background and Related work for title Selection </vt:lpstr>
      <vt:lpstr>Objectives</vt:lpstr>
      <vt:lpstr>Analysis of Problem Statement</vt:lpstr>
      <vt:lpstr>Features of the Website</vt:lpstr>
      <vt:lpstr>Disaster Management</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nithyahd2004@gmail.com</cp:lastModifiedBy>
  <cp:revision>45</cp:revision>
  <dcterms:modified xsi:type="dcterms:W3CDTF">2026-04-23T15:54:46Z</dcterms:modified>
</cp:coreProperties>
</file>